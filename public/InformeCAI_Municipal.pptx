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5.xml" ContentType="application/vnd.openxmlformats-officedocument.drawingml.chart+xml"/>
  <Override PartName="/ppt/charts/chart17.xml" ContentType="application/vnd.openxmlformats-officedocument.drawingml.chart+xml"/>
  <Override PartName="/ppt/charts/chart19.xml" ContentType="application/vnd.openxmlformats-officedocument.drawingml.chart+xml"/>
  <Override PartName="/ppt/charts/chart21.xml" ContentType="application/vnd.openxmlformats-officedocument.drawingml.chart+xml"/>
  <Override PartName="/ppt/charts/chart23.xml" ContentType="application/vnd.openxmlformats-officedocument.drawingml.chart+xml"/>
  <Override PartName="/ppt/charts/chart25.xml" ContentType="application/vnd.openxmlformats-officedocument.drawingml.chart+xml"/>
  <Override PartName="/ppt/charts/chart27.xml" ContentType="application/vnd.openxmlformats-officedocument.drawingml.chart+xml"/>
  <Override PartName="/ppt/charts/chart29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slide" Target="slides/slide26.xml"/>
  <Relationship Id="rId29" Type="http://schemas.openxmlformats.org/officeDocument/2006/relationships/slide" Target="slides/slide27.xml"/>
  <Relationship Id="rId30" Type="http://schemas.openxmlformats.org/officeDocument/2006/relationships/presProps" Target="presProps.xml"/>
  <Relationship Id="rId31" Type="http://schemas.openxmlformats.org/officeDocument/2006/relationships/viewProps" Target="viewProps.xml"/>
  <Relationship Id="rId32" Type="http://schemas.openxmlformats.org/officeDocument/2006/relationships/tableStyles" Target="tableStyles.xml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Población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00897B">
                <a:alpha val="100000"/>
              </a:srgbClr>
            </a:solidFill>
          </c:spPr>
          <c:cat>
            <c:strLit>
              <c:ptCount val="7"/>
              <c:pt idx="0">
                <c:v>HOSPITAL CAPINOTA</c:v>
              </c:pt>
              <c:pt idx="1">
                <c:v>IRPA IRPA</c:v>
              </c:pt>
              <c:pt idx="2">
                <c:v>CHARAMOCO</c:v>
              </c:pt>
              <c:pt idx="3">
                <c:v>APILLAPAMPA</c:v>
              </c:pt>
              <c:pt idx="4">
                <c:v>COBOCE</c:v>
              </c:pt>
              <c:pt idx="5">
                <c:v>HORNOMA</c:v>
              </c:pt>
              <c:pt idx="6">
                <c:v>MOLLINI</c:v>
              </c:pt>
            </c:strLit>
          </c:cat>
          <c:val>
            <c:numLit>
              <c:ptCount val="7"/>
              <c:pt idx="0">
                <c:v>12811</c:v>
              </c:pt>
              <c:pt idx="1">
                <c:v>4484</c:v>
              </c:pt>
              <c:pt idx="2">
                <c:v>1068</c:v>
              </c:pt>
              <c:pt idx="3">
                <c:v>854</c:v>
              </c:pt>
              <c:pt idx="4">
                <c:v>854</c:v>
              </c:pt>
              <c:pt idx="5">
                <c:v>641</c:v>
              </c:pt>
              <c:pt idx="6">
                <c:v>641</c:v>
              </c:pt>
            </c:numLit>
          </c:val>
        </c:ser>
        <c:gapWidth val="6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Población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00897B">
                <a:alpha val="100000"/>
              </a:srgbClr>
            </a:solidFill>
          </c:spPr>
          <c:cat>
            <c:strLit>
              <c:ptCount val="12"/>
              <c:pt idx="0">
                <c:v>&lt; 1 año</c:v>
              </c:pt>
              <c:pt idx="1">
                <c:v>1 año</c:v>
              </c:pt>
              <c:pt idx="2">
                <c:v>2 años</c:v>
              </c:pt>
              <c:pt idx="3">
                <c:v>3 años</c:v>
              </c:pt>
              <c:pt idx="4">
                <c:v>4 años</c:v>
              </c:pt>
              <c:pt idx="5">
                <c:v>5-9</c:v>
              </c:pt>
              <c:pt idx="6">
                <c:v>10-14</c:v>
              </c:pt>
              <c:pt idx="7">
                <c:v>15-19</c:v>
              </c:pt>
              <c:pt idx="8">
                <c:v>20-39</c:v>
              </c:pt>
              <c:pt idx="9">
                <c:v>40-49</c:v>
              </c:pt>
              <c:pt idx="10">
                <c:v>50-59</c:v>
              </c:pt>
              <c:pt idx="11">
                <c:v>60+</c:v>
              </c:pt>
            </c:strLit>
          </c:cat>
          <c:val>
            <c:numLit>
              <c:ptCount val="12"/>
              <c:pt idx="0">
                <c:v>400</c:v>
              </c:pt>
              <c:pt idx="1">
                <c:v>400</c:v>
              </c:pt>
              <c:pt idx="2">
                <c:v>433</c:v>
              </c:pt>
              <c:pt idx="3">
                <c:v>433</c:v>
              </c:pt>
              <c:pt idx="4">
                <c:v>433</c:v>
              </c:pt>
              <c:pt idx="5">
                <c:v>2232</c:v>
              </c:pt>
              <c:pt idx="6">
                <c:v>2200</c:v>
              </c:pt>
              <c:pt idx="7">
                <c:v>2200</c:v>
              </c:pt>
              <c:pt idx="8">
                <c:v>5964</c:v>
              </c:pt>
              <c:pt idx="9">
                <c:v>2099</c:v>
              </c:pt>
              <c:pt idx="10">
                <c:v>1632</c:v>
              </c:pt>
              <c:pt idx="11">
                <c:v>2932</c:v>
              </c:pt>
            </c:numLit>
          </c:val>
        </c:ser>
        <c:gapWidth val="6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% Cobertura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00897B">
                <a:alpha val="100000"/>
              </a:srgbClr>
            </a:solidFill>
          </c:spPr>
          <c:cat>
            <c:strLit>
              <c:ptCount val="19"/>
              <c:pt idx="0">
                <c:v>% BCG</c:v>
              </c:pt>
              <c:pt idx="1">
                <c:v>% 1RA PENTA</c:v>
              </c:pt>
              <c:pt idx="2">
                <c:v>% 2DA PENTA</c:v>
              </c:pt>
              <c:pt idx="3">
                <c:v>% 3RA PENTA</c:v>
              </c:pt>
              <c:pt idx="4">
                <c:v>% 1RA POLIO</c:v>
              </c:pt>
              <c:pt idx="5">
                <c:v>% 2DA POLIO</c:v>
              </c:pt>
              <c:pt idx="6">
                <c:v>% 3RA POLIO</c:v>
              </c:pt>
              <c:pt idx="7">
                <c:v>% 1RA ROTA</c:v>
              </c:pt>
              <c:pt idx="8">
                <c:v>% 2DA ROTA</c:v>
              </c:pt>
              <c:pt idx="9">
                <c:v>% 1RA NEUMO</c:v>
              </c:pt>
              <c:pt idx="10">
                <c:v>% 2DA NEUMO</c:v>
              </c:pt>
              <c:pt idx="11">
                <c:v>% 3RA NEUMO</c:v>
              </c:pt>
              <c:pt idx="12">
                <c:v>% 1RA INFLUENZA</c:v>
              </c:pt>
              <c:pt idx="13">
                <c:v>% 2DA INFLUENZA</c:v>
              </c:pt>
              <c:pt idx="14">
                <c:v>% 1RA SRP</c:v>
              </c:pt>
              <c:pt idx="15">
                <c:v>% 2DA SRP</c:v>
              </c:pt>
              <c:pt idx="16">
                <c:v>% FA</c:v>
              </c:pt>
              <c:pt idx="17">
                <c:v>% VPH NIÑAS</c:v>
              </c:pt>
              <c:pt idx="18">
                <c:v>% VPH NIÑOS</c:v>
              </c:pt>
            </c:strLit>
          </c:cat>
          <c:val>
            <c:numLit>
              <c:ptCount val="19"/>
              <c:pt idx="0">
                <c:v>129.3</c:v>
              </c:pt>
              <c:pt idx="1">
                <c:v>169.9</c:v>
              </c:pt>
              <c:pt idx="2">
                <c:v>159.4</c:v>
              </c:pt>
              <c:pt idx="3">
                <c:v>150.4</c:v>
              </c:pt>
              <c:pt idx="4">
                <c:v>169.2</c:v>
              </c:pt>
              <c:pt idx="5">
                <c:v>160.2</c:v>
              </c:pt>
              <c:pt idx="6">
                <c:v>151.1</c:v>
              </c:pt>
              <c:pt idx="7">
                <c:v>168.4</c:v>
              </c:pt>
              <c:pt idx="8">
                <c:v>159.4</c:v>
              </c:pt>
              <c:pt idx="9">
                <c:v>169.9</c:v>
              </c:pt>
              <c:pt idx="10">
                <c:v>160.9</c:v>
              </c:pt>
              <c:pt idx="11">
                <c:v>151.1</c:v>
              </c:pt>
              <c:pt idx="12">
                <c:v>81.2</c:v>
              </c:pt>
              <c:pt idx="13">
                <c:v>45.1</c:v>
              </c:pt>
              <c:pt idx="14">
                <c:v>170.7</c:v>
              </c:pt>
              <c:pt idx="15">
                <c:v>160.2</c:v>
              </c:pt>
              <c:pt idx="16">
                <c:v>149.6</c:v>
              </c:pt>
              <c:pt idx="17">
                <c:v>43.1</c:v>
              </c:pt>
              <c:pt idx="18">
                <c:v>40.7</c:v>
              </c:pt>
            </c:numLit>
          </c:val>
        </c:ser>
        <c:gapWidth val="6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% Cobertura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00897B">
                <a:alpha val="100000"/>
              </a:srgbClr>
            </a:solidFill>
          </c:spPr>
          <c:cat>
            <c:strLit>
              <c:ptCount val="19"/>
              <c:pt idx="0">
                <c:v>% BCG</c:v>
              </c:pt>
              <c:pt idx="1">
                <c:v>% 1RA PENTA</c:v>
              </c:pt>
              <c:pt idx="2">
                <c:v>% 2DA PENTA</c:v>
              </c:pt>
              <c:pt idx="3">
                <c:v>% 3RA PENTA</c:v>
              </c:pt>
              <c:pt idx="4">
                <c:v>% 1RA POLIO</c:v>
              </c:pt>
              <c:pt idx="5">
                <c:v>% 2DA POLIO</c:v>
              </c:pt>
              <c:pt idx="6">
                <c:v>% 3RA POLIO</c:v>
              </c:pt>
              <c:pt idx="7">
                <c:v>% 1RA ROTA</c:v>
              </c:pt>
              <c:pt idx="8">
                <c:v>% 2DA ROTA</c:v>
              </c:pt>
              <c:pt idx="9">
                <c:v>% 1RA NEUMO</c:v>
              </c:pt>
              <c:pt idx="10">
                <c:v>% 2DA NEUMO</c:v>
              </c:pt>
              <c:pt idx="11">
                <c:v>% 3RA NEUMO</c:v>
              </c:pt>
              <c:pt idx="12">
                <c:v>% 1RA INFLUENZA</c:v>
              </c:pt>
              <c:pt idx="13">
                <c:v>% 2DA INFLUENZA</c:v>
              </c:pt>
              <c:pt idx="14">
                <c:v>% 1RA SRP</c:v>
              </c:pt>
              <c:pt idx="15">
                <c:v>% 2DA SRP</c:v>
              </c:pt>
              <c:pt idx="16">
                <c:v>% FA</c:v>
              </c:pt>
              <c:pt idx="17">
                <c:v>% VPH NIÑAS</c:v>
              </c:pt>
              <c:pt idx="18">
                <c:v>% VPH NIÑOS</c:v>
              </c:pt>
            </c:strLit>
          </c:cat>
          <c:val>
            <c:numLit>
              <c:ptCount val="19"/>
              <c:pt idx="0">
                <c:v>145</c:v>
              </c:pt>
              <c:pt idx="1">
                <c:v>182.5</c:v>
              </c:pt>
              <c:pt idx="2">
                <c:v>170</c:v>
              </c:pt>
              <c:pt idx="3">
                <c:v>165</c:v>
              </c:pt>
              <c:pt idx="4">
                <c:v>181.3</c:v>
              </c:pt>
              <c:pt idx="5">
                <c:v>171.3</c:v>
              </c:pt>
              <c:pt idx="6">
                <c:v>166.3</c:v>
              </c:pt>
              <c:pt idx="7">
                <c:v>180</c:v>
              </c:pt>
              <c:pt idx="8">
                <c:v>170</c:v>
              </c:pt>
              <c:pt idx="9">
                <c:v>182.5</c:v>
              </c:pt>
              <c:pt idx="10">
                <c:v>172.5</c:v>
              </c:pt>
              <c:pt idx="11">
                <c:v>166.3</c:v>
              </c:pt>
              <c:pt idx="12">
                <c:v>93.8</c:v>
              </c:pt>
              <c:pt idx="13">
                <c:v>55</c:v>
              </c:pt>
              <c:pt idx="14">
                <c:v>183.8</c:v>
              </c:pt>
              <c:pt idx="15">
                <c:v>171.3</c:v>
              </c:pt>
              <c:pt idx="16">
                <c:v>163.8</c:v>
              </c:pt>
              <c:pt idx="17">
                <c:v>45.9</c:v>
              </c:pt>
              <c:pt idx="18">
                <c:v>43</c:v>
              </c:pt>
            </c:numLit>
          </c:val>
        </c:ser>
        <c:gapWidth val="6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% Cobertura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00897B">
                <a:alpha val="100000"/>
              </a:srgbClr>
            </a:solidFill>
          </c:spPr>
          <c:cat>
            <c:strLit>
              <c:ptCount val="19"/>
              <c:pt idx="0">
                <c:v>% BCG</c:v>
              </c:pt>
              <c:pt idx="1">
                <c:v>% 1RA PENTA</c:v>
              </c:pt>
              <c:pt idx="2">
                <c:v>% 2DA PENTA</c:v>
              </c:pt>
              <c:pt idx="3">
                <c:v>% 3RA PENTA</c:v>
              </c:pt>
              <c:pt idx="4">
                <c:v>% 1RA POLIO</c:v>
              </c:pt>
              <c:pt idx="5">
                <c:v>% 2DA POLIO</c:v>
              </c:pt>
              <c:pt idx="6">
                <c:v>% 3RA POLIO</c:v>
              </c:pt>
              <c:pt idx="7">
                <c:v>% 1RA ROTA</c:v>
              </c:pt>
              <c:pt idx="8">
                <c:v>% 2DA ROTA</c:v>
              </c:pt>
              <c:pt idx="9">
                <c:v>% 1RA NEUMO</c:v>
              </c:pt>
              <c:pt idx="10">
                <c:v>% 2DA NEUMO</c:v>
              </c:pt>
              <c:pt idx="11">
                <c:v>% 3RA NEUMO</c:v>
              </c:pt>
              <c:pt idx="12">
                <c:v>% 1RA INFLUENZA</c:v>
              </c:pt>
              <c:pt idx="13">
                <c:v>% 2DA INFLUENZA</c:v>
              </c:pt>
              <c:pt idx="14">
                <c:v>% 1RA SRP</c:v>
              </c:pt>
              <c:pt idx="15">
                <c:v>% 2DA SRP</c:v>
              </c:pt>
              <c:pt idx="16">
                <c:v>% FA</c:v>
              </c:pt>
              <c:pt idx="17">
                <c:v>% VPH NIÑAS</c:v>
              </c:pt>
              <c:pt idx="18">
                <c:v>% VPH NIÑOS</c:v>
              </c:pt>
            </c:strLit>
          </c:cat>
          <c:val>
            <c:numLit>
              <c:ptCount val="19"/>
              <c:pt idx="0">
                <c:v>128.6</c:v>
              </c:pt>
              <c:pt idx="1">
                <c:v>171.4</c:v>
              </c:pt>
              <c:pt idx="2">
                <c:v>157.1</c:v>
              </c:pt>
              <c:pt idx="3">
                <c:v>142.9</c:v>
              </c:pt>
              <c:pt idx="4">
                <c:v>171.4</c:v>
              </c:pt>
              <c:pt idx="5">
                <c:v>157.1</c:v>
              </c:pt>
              <c:pt idx="6">
                <c:v>142.9</c:v>
              </c:pt>
              <c:pt idx="7">
                <c:v>171.4</c:v>
              </c:pt>
              <c:pt idx="8">
                <c:v>157.1</c:v>
              </c:pt>
              <c:pt idx="9">
                <c:v>171.4</c:v>
              </c:pt>
              <c:pt idx="10">
                <c:v>157.1</c:v>
              </c:pt>
              <c:pt idx="11">
                <c:v>142.9</c:v>
              </c:pt>
              <c:pt idx="12">
                <c:v>75</c:v>
              </c:pt>
              <c:pt idx="13">
                <c:v>42.9</c:v>
              </c:pt>
              <c:pt idx="14">
                <c:v>171.4</c:v>
              </c:pt>
              <c:pt idx="15">
                <c:v>157.1</c:v>
              </c:pt>
              <c:pt idx="16">
                <c:v>142.9</c:v>
              </c:pt>
              <c:pt idx="17">
                <c:v>42.9</c:v>
              </c:pt>
              <c:pt idx="18">
                <c:v>39.6</c:v>
              </c:pt>
            </c:numLit>
          </c:val>
        </c:ser>
        <c:gapWidth val="6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% Cobertura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00897B">
                <a:alpha val="100000"/>
              </a:srgbClr>
            </a:solidFill>
          </c:spPr>
          <c:cat>
            <c:strLit>
              <c:ptCount val="19"/>
              <c:pt idx="0">
                <c:v>% BCG</c:v>
              </c:pt>
              <c:pt idx="1">
                <c:v>% 1RA PENTA</c:v>
              </c:pt>
              <c:pt idx="2">
                <c:v>% 2DA PENTA</c:v>
              </c:pt>
              <c:pt idx="3">
                <c:v>% 3RA PENTA</c:v>
              </c:pt>
              <c:pt idx="4">
                <c:v>% 1RA POLIO</c:v>
              </c:pt>
              <c:pt idx="5">
                <c:v>% 2DA POLIO</c:v>
              </c:pt>
              <c:pt idx="6">
                <c:v>% 3RA POLIO</c:v>
              </c:pt>
              <c:pt idx="7">
                <c:v>% 1RA ROTA</c:v>
              </c:pt>
              <c:pt idx="8">
                <c:v>% 2DA ROTA</c:v>
              </c:pt>
              <c:pt idx="9">
                <c:v>% 1RA NEUMO</c:v>
              </c:pt>
              <c:pt idx="10">
                <c:v>% 2DA NEUMO</c:v>
              </c:pt>
              <c:pt idx="11">
                <c:v>% 3RA NEUMO</c:v>
              </c:pt>
              <c:pt idx="12">
                <c:v>% 1RA INFLUENZA</c:v>
              </c:pt>
              <c:pt idx="13">
                <c:v>% 2DA INFLUENZA</c:v>
              </c:pt>
              <c:pt idx="14">
                <c:v>% 1RA SRP</c:v>
              </c:pt>
              <c:pt idx="15">
                <c:v>% 2DA SRP</c:v>
              </c:pt>
              <c:pt idx="16">
                <c:v>% FA</c:v>
              </c:pt>
              <c:pt idx="17">
                <c:v>% VPH NIÑAS</c:v>
              </c:pt>
              <c:pt idx="18">
                <c:v>% VPH NIÑOS</c:v>
              </c:pt>
            </c:strLit>
          </c:cat>
          <c:val>
            <c:numLit>
              <c:ptCount val="19"/>
              <c:pt idx="0">
                <c:v>171.4</c:v>
              </c:pt>
              <c:pt idx="1">
                <c:v>228.6</c:v>
              </c:pt>
              <c:pt idx="2">
                <c:v>228.6</c:v>
              </c:pt>
              <c:pt idx="3">
                <c:v>228.6</c:v>
              </c:pt>
              <c:pt idx="4">
                <c:v>228.6</c:v>
              </c:pt>
              <c:pt idx="5">
                <c:v>228.6</c:v>
              </c:pt>
              <c:pt idx="6">
                <c:v>228.6</c:v>
              </c:pt>
              <c:pt idx="7">
                <c:v>228.6</c:v>
              </c:pt>
              <c:pt idx="8">
                <c:v>228.6</c:v>
              </c:pt>
              <c:pt idx="9">
                <c:v>228.6</c:v>
              </c:pt>
              <c:pt idx="10">
                <c:v>228.6</c:v>
              </c:pt>
              <c:pt idx="11">
                <c:v>228.6</c:v>
              </c:pt>
              <c:pt idx="12">
                <c:v>114.3</c:v>
              </c:pt>
              <c:pt idx="13">
                <c:v>57.1</c:v>
              </c:pt>
              <c:pt idx="14">
                <c:v>228.6</c:v>
              </c:pt>
              <c:pt idx="15">
                <c:v>228.6</c:v>
              </c:pt>
              <c:pt idx="16">
                <c:v>228.6</c:v>
              </c:pt>
              <c:pt idx="17">
                <c:v>75.7</c:v>
              </c:pt>
              <c:pt idx="18">
                <c:v>75.7</c:v>
              </c:pt>
            </c:numLit>
          </c:val>
        </c:ser>
        <c:gapWidth val="6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% Cobertura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00897B">
                <a:alpha val="100000"/>
              </a:srgbClr>
            </a:solidFill>
          </c:spPr>
          <c:cat>
            <c:strLit>
              <c:ptCount val="19"/>
              <c:pt idx="0">
                <c:v>% BCG</c:v>
              </c:pt>
              <c:pt idx="1">
                <c:v>% 1RA PENTA</c:v>
              </c:pt>
              <c:pt idx="2">
                <c:v>% 2DA PENTA</c:v>
              </c:pt>
              <c:pt idx="3">
                <c:v>% 3RA PENTA</c:v>
              </c:pt>
              <c:pt idx="4">
                <c:v>% 1RA POLIO</c:v>
              </c:pt>
              <c:pt idx="5">
                <c:v>% 2DA POLIO</c:v>
              </c:pt>
              <c:pt idx="6">
                <c:v>% 3RA POLIO</c:v>
              </c:pt>
              <c:pt idx="7">
                <c:v>% 1RA ROTA</c:v>
              </c:pt>
              <c:pt idx="8">
                <c:v>% 2DA ROTA</c:v>
              </c:pt>
              <c:pt idx="9">
                <c:v>% 1RA NEUMO</c:v>
              </c:pt>
              <c:pt idx="10">
                <c:v>% 2DA NEUMO</c:v>
              </c:pt>
              <c:pt idx="11">
                <c:v>% 3RA NEUMO</c:v>
              </c:pt>
              <c:pt idx="12">
                <c:v>% 1RA INFLUENZA</c:v>
              </c:pt>
              <c:pt idx="13">
                <c:v>% 2DA INFLUENZA</c:v>
              </c:pt>
              <c:pt idx="14">
                <c:v>% 1RA SRP</c:v>
              </c:pt>
              <c:pt idx="15">
                <c:v>% 2DA SRP</c:v>
              </c:pt>
              <c:pt idx="16">
                <c:v>% FA</c:v>
              </c:pt>
              <c:pt idx="17">
                <c:v>% VPH NIÑAS</c:v>
              </c:pt>
              <c:pt idx="18">
                <c:v>% VPH NIÑOS</c:v>
              </c:pt>
            </c:strLit>
          </c:cat>
          <c:val>
            <c:numLit>
              <c:ptCount val="19"/>
              <c:pt idx="0">
                <c:v>0</c:v>
              </c:pt>
              <c:pt idx="1">
                <c:v>80</c:v>
              </c:pt>
              <c:pt idx="2">
                <c:v>80</c:v>
              </c:pt>
              <c:pt idx="3">
                <c:v>80</c:v>
              </c:pt>
              <c:pt idx="4">
                <c:v>80</c:v>
              </c:pt>
              <c:pt idx="5">
                <c:v>80</c:v>
              </c:pt>
              <c:pt idx="6">
                <c:v>80</c:v>
              </c:pt>
              <c:pt idx="7">
                <c:v>80</c:v>
              </c:pt>
              <c:pt idx="8">
                <c:v>80</c:v>
              </c:pt>
              <c:pt idx="9">
                <c:v>80</c:v>
              </c:pt>
              <c:pt idx="10">
                <c:v>80</c:v>
              </c:pt>
              <c:pt idx="11">
                <c:v>80</c:v>
              </c:pt>
              <c:pt idx="12">
                <c:v>0</c:v>
              </c:pt>
              <c:pt idx="13">
                <c:v>0</c:v>
              </c:pt>
              <c:pt idx="14">
                <c:v>80</c:v>
              </c:pt>
              <c:pt idx="15">
                <c:v>80</c:v>
              </c:pt>
              <c:pt idx="16">
                <c:v>80</c:v>
              </c:pt>
              <c:pt idx="17">
                <c:v>13.8</c:v>
              </c:pt>
              <c:pt idx="18">
                <c:v>13.8</c:v>
              </c:pt>
            </c:numLit>
          </c:val>
        </c:ser>
        <c:gapWidth val="6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% Cobertura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00897B">
                <a:alpha val="100000"/>
              </a:srgbClr>
            </a:solidFill>
          </c:spPr>
          <c:cat>
            <c:strLit>
              <c:ptCount val="19"/>
              <c:pt idx="0">
                <c:v>% BCG</c:v>
              </c:pt>
              <c:pt idx="1">
                <c:v>% 1RA PENTA</c:v>
              </c:pt>
              <c:pt idx="2">
                <c:v>% 2DA PENTA</c:v>
              </c:pt>
              <c:pt idx="3">
                <c:v>% 3RA PENTA</c:v>
              </c:pt>
              <c:pt idx="4">
                <c:v>% 1RA POLIO</c:v>
              </c:pt>
              <c:pt idx="5">
                <c:v>% 2DA POLIO</c:v>
              </c:pt>
              <c:pt idx="6">
                <c:v>% 3RA POLIO</c:v>
              </c:pt>
              <c:pt idx="7">
                <c:v>% 1RA ROTA</c:v>
              </c:pt>
              <c:pt idx="8">
                <c:v>% 2DA ROTA</c:v>
              </c:pt>
              <c:pt idx="9">
                <c:v>% 1RA NEUMO</c:v>
              </c:pt>
              <c:pt idx="10">
                <c:v>% 2DA NEUMO</c:v>
              </c:pt>
              <c:pt idx="11">
                <c:v>% 3RA NEUMO</c:v>
              </c:pt>
              <c:pt idx="12">
                <c:v>% 1RA INFLUENZA</c:v>
              </c:pt>
              <c:pt idx="13">
                <c:v>% 2DA INFLUENZA</c:v>
              </c:pt>
              <c:pt idx="14">
                <c:v>% 1RA SRP</c:v>
              </c:pt>
              <c:pt idx="15">
                <c:v>% 2DA SRP</c:v>
              </c:pt>
              <c:pt idx="16">
                <c:v>% FA</c:v>
              </c:pt>
              <c:pt idx="17">
                <c:v>% VPH NIÑAS</c:v>
              </c:pt>
              <c:pt idx="18">
                <c:v>% VPH NIÑOS</c:v>
              </c:pt>
            </c:strLit>
          </c:cat>
          <c:val>
            <c:numLit>
              <c:ptCount val="19"/>
              <c:pt idx="0">
                <c:v>80</c:v>
              </c:pt>
              <c:pt idx="1">
                <c:v>160</c:v>
              </c:pt>
              <c:pt idx="2">
                <c:v>160</c:v>
              </c:pt>
              <c:pt idx="3">
                <c:v>80</c:v>
              </c:pt>
              <c:pt idx="4">
                <c:v>160</c:v>
              </c:pt>
              <c:pt idx="5">
                <c:v>160</c:v>
              </c:pt>
              <c:pt idx="6">
                <c:v>80</c:v>
              </c:pt>
              <c:pt idx="7">
                <c:v>160</c:v>
              </c:pt>
              <c:pt idx="8">
                <c:v>160</c:v>
              </c:pt>
              <c:pt idx="9">
                <c:v>160</c:v>
              </c:pt>
              <c:pt idx="10">
                <c:v>160</c:v>
              </c:pt>
              <c:pt idx="11">
                <c:v>80</c:v>
              </c:pt>
              <c:pt idx="12">
                <c:v>80</c:v>
              </c:pt>
              <c:pt idx="13">
                <c:v>0</c:v>
              </c:pt>
              <c:pt idx="14">
                <c:v>160</c:v>
              </c:pt>
              <c:pt idx="15">
                <c:v>160</c:v>
              </c:pt>
              <c:pt idx="16">
                <c:v>80</c:v>
              </c:pt>
              <c:pt idx="17">
                <c:v>27.6</c:v>
              </c:pt>
              <c:pt idx="18">
                <c:v>27.6</c:v>
              </c:pt>
            </c:numLit>
          </c:val>
        </c:ser>
        <c:gapWidth val="6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% Cobertura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00897B">
                <a:alpha val="100000"/>
              </a:srgbClr>
            </a:solidFill>
          </c:spPr>
          <c:cat>
            <c:strLit>
              <c:ptCount val="19"/>
              <c:pt idx="0">
                <c:v>% BCG</c:v>
              </c:pt>
              <c:pt idx="1">
                <c:v>% 1RA PENTA</c:v>
              </c:pt>
              <c:pt idx="2">
                <c:v>% 2DA PENTA</c:v>
              </c:pt>
              <c:pt idx="3">
                <c:v>% 3RA PENTA</c:v>
              </c:pt>
              <c:pt idx="4">
                <c:v>% 1RA POLIO</c:v>
              </c:pt>
              <c:pt idx="5">
                <c:v>% 2DA POLIO</c:v>
              </c:pt>
              <c:pt idx="6">
                <c:v>% 3RA POLIO</c:v>
              </c:pt>
              <c:pt idx="7">
                <c:v>% 1RA ROTA</c:v>
              </c:pt>
              <c:pt idx="8">
                <c:v>% 2DA ROTA</c:v>
              </c:pt>
              <c:pt idx="9">
                <c:v>% 1RA NEUMO</c:v>
              </c:pt>
              <c:pt idx="10">
                <c:v>% 2DA NEUMO</c:v>
              </c:pt>
              <c:pt idx="11">
                <c:v>% 3RA NEUMO</c:v>
              </c:pt>
              <c:pt idx="12">
                <c:v>% 1RA INFLUENZA</c:v>
              </c:pt>
              <c:pt idx="13">
                <c:v>% 2DA INFLUENZA</c:v>
              </c:pt>
              <c:pt idx="14">
                <c:v>% 1RA SRP</c:v>
              </c:pt>
              <c:pt idx="15">
                <c:v>% 2DA SRP</c:v>
              </c:pt>
              <c:pt idx="16">
                <c:v>% FA</c:v>
              </c:pt>
              <c:pt idx="17">
                <c:v>% VPH NIÑAS</c:v>
              </c:pt>
              <c:pt idx="18">
                <c:v>% VPH NIÑOS</c:v>
              </c:pt>
            </c:strLit>
          </c:cat>
          <c:val>
            <c:numLit>
              <c:ptCount val="19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  <c:pt idx="4">
                <c:v>100</c:v>
              </c:pt>
              <c:pt idx="5">
                <c:v>100</c:v>
              </c:pt>
              <c:pt idx="6">
                <c:v>100</c:v>
              </c:pt>
              <c:pt idx="7">
                <c:v>100</c:v>
              </c:pt>
              <c:pt idx="8">
                <c:v>100</c:v>
              </c:pt>
              <c:pt idx="9">
                <c:v>100</c:v>
              </c:pt>
              <c:pt idx="10">
                <c:v>100</c:v>
              </c:pt>
              <c:pt idx="11">
                <c:v>100</c:v>
              </c:pt>
              <c:pt idx="12">
                <c:v>0</c:v>
              </c:pt>
              <c:pt idx="13">
                <c:v>0</c:v>
              </c:pt>
              <c:pt idx="14">
                <c:v>100</c:v>
              </c:pt>
              <c:pt idx="15">
                <c:v>100</c:v>
              </c:pt>
              <c:pt idx="16">
                <c:v>100</c:v>
              </c:pt>
              <c:pt idx="17">
                <c:v>18.2</c:v>
              </c:pt>
              <c:pt idx="18">
                <c:v>18.2</c:v>
              </c:pt>
            </c:numLit>
          </c:val>
        </c:ser>
        <c:gapWidth val="6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% Cobertura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00897B">
                <a:alpha val="100000"/>
              </a:srgbClr>
            </a:solidFill>
          </c:spPr>
          <c:cat>
            <c:strLit>
              <c:ptCount val="19"/>
              <c:pt idx="0">
                <c:v>% BCG</c:v>
              </c:pt>
              <c:pt idx="1">
                <c:v>% 1RA PENTA</c:v>
              </c:pt>
              <c:pt idx="2">
                <c:v>% 2DA PENTA</c:v>
              </c:pt>
              <c:pt idx="3">
                <c:v>% 3RA PENTA</c:v>
              </c:pt>
              <c:pt idx="4">
                <c:v>% 1RA POLIO</c:v>
              </c:pt>
              <c:pt idx="5">
                <c:v>% 2DA POLIO</c:v>
              </c:pt>
              <c:pt idx="6">
                <c:v>% 3RA POLIO</c:v>
              </c:pt>
              <c:pt idx="7">
                <c:v>% 1RA ROTA</c:v>
              </c:pt>
              <c:pt idx="8">
                <c:v>% 2DA ROTA</c:v>
              </c:pt>
              <c:pt idx="9">
                <c:v>% 1RA NEUMO</c:v>
              </c:pt>
              <c:pt idx="10">
                <c:v>% 2DA NEUMO</c:v>
              </c:pt>
              <c:pt idx="11">
                <c:v>% 3RA NEUMO</c:v>
              </c:pt>
              <c:pt idx="12">
                <c:v>% 1RA INFLUENZA</c:v>
              </c:pt>
              <c:pt idx="13">
                <c:v>% 2DA INFLUENZA</c:v>
              </c:pt>
              <c:pt idx="14">
                <c:v>% 1RA SRP</c:v>
              </c:pt>
              <c:pt idx="15">
                <c:v>% 2DA SRP</c:v>
              </c:pt>
              <c:pt idx="16">
                <c:v>% FA</c:v>
              </c:pt>
              <c:pt idx="17">
                <c:v>% VPH NIÑAS</c:v>
              </c:pt>
              <c:pt idx="18">
                <c:v>% VPH NIÑOS</c:v>
              </c:pt>
            </c:strLit>
          </c:cat>
          <c:val>
            <c:numLit>
              <c:ptCount val="1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18.2</c:v>
              </c:pt>
              <c:pt idx="18">
                <c:v>18.2</c:v>
              </c:pt>
            </c:numLit>
          </c:val>
        </c:ser>
        <c:gapWidth val="6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Pentavalente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00897B">
                <a:alpha val="100000"/>
              </a:srgbClr>
            </a:solidFill>
          </c:spPr>
          <c:cat>
            <c:strLit>
              <c:ptCount val="2"/>
              <c:pt idx="0">
                <c:v>1ra Penta</c:v>
              </c:pt>
              <c:pt idx="1">
                <c:v>3ra Penta</c:v>
              </c:pt>
            </c:strLit>
          </c:cat>
          <c:val>
            <c:numLit>
              <c:ptCount val="2"/>
              <c:pt idx="0">
                <c:v>226</c:v>
              </c:pt>
              <c:pt idx="1">
                <c:v>200</c:v>
              </c:pt>
            </c:numLit>
          </c:val>
        </c:ser>
        <c:gapWidth val="6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SRP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1565C0">
                <a:alpha val="100000"/>
              </a:srgbClr>
            </a:solidFill>
          </c:spPr>
          <c:cat>
            <c:strLit>
              <c:ptCount val="2"/>
              <c:pt idx="0">
                <c:v>1ra SRP</c:v>
              </c:pt>
              <c:pt idx="1">
                <c:v>2da SRP</c:v>
              </c:pt>
            </c:strLit>
          </c:cat>
          <c:val>
            <c:numLit>
              <c:ptCount val="2"/>
              <c:pt idx="0">
                <c:v>227</c:v>
              </c:pt>
              <c:pt idx="1">
                <c:v>213</c:v>
              </c:pt>
            </c:numLit>
          </c:val>
        </c:ser>
        <c:gapWidth val="6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Tasa %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EF6C00">
                <a:alpha val="100000"/>
              </a:srgbClr>
            </a:solidFill>
          </c:spPr>
          <c:cat>
            <c:strLit>
              <c:ptCount val="7"/>
              <c:pt idx="0">
                <c:v>HOSPITAL CAPINOTA</c:v>
              </c:pt>
              <c:pt idx="1">
                <c:v>IRPA IRPA</c:v>
              </c:pt>
              <c:pt idx="2">
                <c:v>CHARAMOCO</c:v>
              </c:pt>
              <c:pt idx="3">
                <c:v>APILLAPAMPA</c:v>
              </c:pt>
              <c:pt idx="4">
                <c:v>COBOCE</c:v>
              </c:pt>
              <c:pt idx="5">
                <c:v>HORNOMA</c:v>
              </c:pt>
              <c:pt idx="6">
                <c:v>MOLLINI</c:v>
              </c:pt>
            </c:strLit>
          </c:cat>
          <c:val>
            <c:numLit>
              <c:ptCount val="7"/>
              <c:pt idx="0">
                <c:v>9.6</c:v>
              </c:pt>
              <c:pt idx="1">
                <c:v>16.7</c:v>
              </c:pt>
              <c:pt idx="2">
                <c:v>0</c:v>
              </c:pt>
              <c:pt idx="3">
                <c:v>0</c:v>
              </c:pt>
              <c:pt idx="4">
                <c:v>50</c:v>
              </c:pt>
              <c:pt idx="5">
                <c:v>0</c:v>
              </c:pt>
              <c:pt idx="6">
                <c:v>0</c:v>
              </c:pt>
            </c:numLit>
          </c:val>
        </c:ser>
        <c:gapWidth val="6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1ra Dosis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00897B">
                <a:alpha val="100000"/>
              </a:srgbClr>
            </a:solidFill>
          </c:spPr>
          <c:cat>
            <c:strLit>
              <c:ptCount val="7"/>
              <c:pt idx="0">
                <c:v>HOSPITAL CAPINOTA</c:v>
              </c:pt>
              <c:pt idx="1">
                <c:v>IRPA IRPA</c:v>
              </c:pt>
              <c:pt idx="2">
                <c:v>CHARAMOCO</c:v>
              </c:pt>
              <c:pt idx="3">
                <c:v>APILLAPAMPA</c:v>
              </c:pt>
              <c:pt idx="4">
                <c:v>COBOCE</c:v>
              </c:pt>
              <c:pt idx="5">
                <c:v>HORNOMA</c:v>
              </c:pt>
              <c:pt idx="6">
                <c:v>MOLLINI</c:v>
              </c:pt>
            </c:strLit>
          </c:cat>
          <c:val>
            <c:numLit>
              <c:ptCount val="7"/>
              <c:pt idx="0">
                <c:v>310</c:v>
              </c:pt>
              <c:pt idx="1">
                <c:v>108</c:v>
              </c:pt>
              <c:pt idx="2">
                <c:v>41</c:v>
              </c:pt>
              <c:pt idx="3">
                <c:v>4</c:v>
              </c:pt>
              <c:pt idx="4">
                <c:v>17</c:v>
              </c:pt>
              <c:pt idx="5">
                <c:v>8</c:v>
              </c:pt>
              <c:pt idx="6">
                <c:v>4</c:v>
              </c:pt>
            </c:numLit>
          </c:val>
        </c:ser>
        <c:ser>
          <c:idx val="1"/>
          <c:order val="1"/>
          <c:tx>
            <c:v>2da Dosis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1565C0">
                <a:alpha val="100000"/>
              </a:srgbClr>
            </a:solidFill>
          </c:spPr>
          <c:cat>
            <c:strLit>
              <c:ptCount val="7"/>
              <c:pt idx="0">
                <c:v>HOSPITAL CAPINOTA</c:v>
              </c:pt>
              <c:pt idx="1">
                <c:v>IRPA IRPA</c:v>
              </c:pt>
              <c:pt idx="2">
                <c:v>CHARAMOCO</c:v>
              </c:pt>
              <c:pt idx="3">
                <c:v>APILLAPAMPA</c:v>
              </c:pt>
              <c:pt idx="4">
                <c:v>COBOCE</c:v>
              </c:pt>
              <c:pt idx="5">
                <c:v>HORNOMA</c:v>
              </c:pt>
              <c:pt idx="6">
                <c:v>MOLLINI</c:v>
              </c:pt>
            </c:strLit>
          </c:cat>
          <c:val>
            <c:numLit>
              <c:ptCount val="7"/>
              <c:pt idx="0">
                <c:v>198</c:v>
              </c:pt>
              <c:pt idx="1">
                <c:v>65</c:v>
              </c:pt>
              <c:pt idx="2">
                <c:v>29</c:v>
              </c:pt>
              <c:pt idx="3">
                <c:v>4</c:v>
              </c:pt>
              <c:pt idx="4">
                <c:v>13</c:v>
              </c:pt>
              <c:pt idx="5">
                <c:v>4</c:v>
              </c:pt>
              <c:pt idx="6">
                <c:v>4</c:v>
              </c:pt>
            </c:numLit>
          </c:val>
        </c:ser>
        <c:gapWidth val="6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legend>
      <c:legendPos val="r"/>
      <c:layout>
        <c:manualLayout>
          <c:xMode val="edge"/>
          <c:yMode val="edge"/>
        </c:manualLayout>
      </c:layout>
      <c:overlay val="0"/>
      <c:spPr>
        <a:noFill/>
        <a:ln w="9525" cap="flat" cmpd="sng" algn="ctr">
          <a:solidFill>
            <a:srgbClr val="000000">
              <a:alpha val="100000"/>
            </a:srgbClr>
          </a:solidFill>
          <a:prstDash val="solid"/>
          <a:round/>
          <a:headEnd type="none" w="med" len="med"/>
          <a:tailEnd type="none" w="med" len="med"/>
        </a:ln>
      </c:spPr>
      <c:txPr>
        <a:bodyPr/>
        <a:lstStyle/>
        <a:p>
          <a:pPr algn="l" fontAlgn="base" marL="0" marR="0" indent="0" lvl="0">
            <a:defRPr b="true" i="false" strike="noStrike" sz="1000" u="none">
              <a:solidFill>
                <a:srgbClr val="000000">
                  <a:alpha val="100000"/>
                </a:srgbClr>
              </a:solidFill>
              <a:latin typeface="Calibri"/>
            </a:defRPr>
          </a:pPr>
          <a:endParaRPr lang="en-US" dirty="0"/>
        </a:p>
      </c:txPr>
    </c:legend>
    <c:plotVisOnly val="1"/>
    <c:dispBlanksAs val="zero"/>
  </c:chart>
  <c:spPr>
    <a:noFill/>
  </c:spPr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Meta ajustada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B0BEC5">
                <a:alpha val="100000"/>
              </a:srgbClr>
            </a:solidFill>
          </c:spPr>
          <c:cat>
            <c:strLit>
              <c:ptCount val="7"/>
              <c:pt idx="0">
                <c:v>HOSPITAL CAPINOTA</c:v>
              </c:pt>
              <c:pt idx="1">
                <c:v>IRPA IRPA</c:v>
              </c:pt>
              <c:pt idx="2">
                <c:v>CHARAMOCO</c:v>
              </c:pt>
              <c:pt idx="3">
                <c:v>APILLAPAMPA</c:v>
              </c:pt>
              <c:pt idx="4">
                <c:v>COBOCE</c:v>
              </c:pt>
              <c:pt idx="5">
                <c:v>HORNOMA</c:v>
              </c:pt>
              <c:pt idx="6">
                <c:v>MOLLINI</c:v>
              </c:pt>
            </c:strLit>
          </c:cat>
          <c:val>
            <c:numLit>
              <c:ptCount val="7"/>
              <c:pt idx="0">
                <c:v>80</c:v>
              </c:pt>
              <c:pt idx="1">
                <c:v>28</c:v>
              </c:pt>
              <c:pt idx="2">
                <c:v>7</c:v>
              </c:pt>
              <c:pt idx="3">
                <c:v>5</c:v>
              </c:pt>
              <c:pt idx="4">
                <c:v>5</c:v>
              </c:pt>
              <c:pt idx="5">
                <c:v>4</c:v>
              </c:pt>
              <c:pt idx="6">
                <c:v>4</c:v>
              </c:pt>
            </c:numLit>
          </c:val>
        </c:ser>
        <c:ser>
          <c:idx val="1"/>
          <c:order val="1"/>
          <c:tx>
            <c:v>Hierro entregado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00897B">
                <a:alpha val="100000"/>
              </a:srgbClr>
            </a:solidFill>
          </c:spPr>
          <c:cat>
            <c:strLit>
              <c:ptCount val="7"/>
              <c:pt idx="0">
                <c:v>HOSPITAL CAPINOTA</c:v>
              </c:pt>
              <c:pt idx="1">
                <c:v>IRPA IRPA</c:v>
              </c:pt>
              <c:pt idx="2">
                <c:v>CHARAMOCO</c:v>
              </c:pt>
              <c:pt idx="3">
                <c:v>APILLAPAMPA</c:v>
              </c:pt>
              <c:pt idx="4">
                <c:v>COBOCE</c:v>
              </c:pt>
              <c:pt idx="5">
                <c:v>HORNOMA</c:v>
              </c:pt>
              <c:pt idx="6">
                <c:v>MOLLINI</c:v>
              </c:pt>
            </c:strLit>
          </c:cat>
          <c:val>
            <c:numLit>
              <c:ptCount val="7"/>
              <c:pt idx="0">
                <c:v>524</c:v>
              </c:pt>
              <c:pt idx="1">
                <c:v>172</c:v>
              </c:pt>
              <c:pt idx="2">
                <c:v>69</c:v>
              </c:pt>
              <c:pt idx="3">
                <c:v>8</c:v>
              </c:pt>
              <c:pt idx="4">
                <c:v>25</c:v>
              </c:pt>
              <c:pt idx="5">
                <c:v>12</c:v>
              </c:pt>
              <c:pt idx="6">
                <c:v>8</c:v>
              </c:pt>
            </c:numLit>
          </c:val>
        </c:ser>
        <c:gapWidth val="6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legend>
      <c:legendPos val="r"/>
      <c:layout>
        <c:manualLayout>
          <c:xMode val="edge"/>
          <c:yMode val="edge"/>
        </c:manualLayout>
      </c:layout>
      <c:overlay val="0"/>
      <c:spPr>
        <a:noFill/>
        <a:ln w="9525" cap="flat" cmpd="sng" algn="ctr">
          <a:solidFill>
            <a:srgbClr val="000000">
              <a:alpha val="100000"/>
            </a:srgbClr>
          </a:solidFill>
          <a:prstDash val="solid"/>
          <a:round/>
          <a:headEnd type="none" w="med" len="med"/>
          <a:tailEnd type="none" w="med" len="med"/>
        </a:ln>
      </c:spPr>
      <c:txPr>
        <a:bodyPr/>
        <a:lstStyle/>
        <a:p>
          <a:pPr algn="l" fontAlgn="base" marL="0" marR="0" indent="0" lvl="0">
            <a:defRPr b="true" i="false" strike="noStrike" sz="1000" u="none">
              <a:solidFill>
                <a:srgbClr val="000000">
                  <a:alpha val="100000"/>
                </a:srgbClr>
              </a:solidFill>
              <a:latin typeface="Calibri"/>
            </a:defRPr>
          </a:pPr>
          <a:endParaRPr lang="en-US" dirty="0"/>
        </a:p>
      </c:txPr>
    </c:legend>
    <c:plotVisOnly val="1"/>
    <c:dispBlanksAs val="zero"/>
  </c:chart>
  <c:spPr>
    <a:noFill/>
  </c:spPr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Hierro entregado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00897B">
                <a:alpha val="100000"/>
              </a:srgbClr>
            </a:solidFill>
          </c:spPr>
          <c:cat>
            <c:strLit>
              <c:ptCount val="7"/>
              <c:pt idx="0">
                <c:v>HOSPITAL CAPINOTA</c:v>
              </c:pt>
              <c:pt idx="1">
                <c:v>IRPA IRPA</c:v>
              </c:pt>
              <c:pt idx="2">
                <c:v>CHARAMOCO</c:v>
              </c:pt>
              <c:pt idx="3">
                <c:v>APILLAPAMPA</c:v>
              </c:pt>
              <c:pt idx="4">
                <c:v>COBOCE</c:v>
              </c:pt>
              <c:pt idx="5">
                <c:v>HORNOMA</c:v>
              </c:pt>
              <c:pt idx="6">
                <c:v>MOLLINI</c:v>
              </c:pt>
            </c:strLit>
          </c:cat>
          <c:val>
            <c:numLit>
              <c:ptCount val="7"/>
              <c:pt idx="0">
                <c:v>420</c:v>
              </c:pt>
              <c:pt idx="1">
                <c:v>135</c:v>
              </c:pt>
              <c:pt idx="2">
                <c:v>54</c:v>
              </c:pt>
              <c:pt idx="3">
                <c:v>8</c:v>
              </c:pt>
              <c:pt idx="4">
                <c:v>22</c:v>
              </c:pt>
              <c:pt idx="5">
                <c:v>8</c:v>
              </c:pt>
              <c:pt idx="6">
                <c:v>4</c:v>
              </c:pt>
            </c:numLit>
          </c:val>
        </c:ser>
        <c:gapWidth val="6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Partos esperados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B0BEC5">
                <a:alpha val="100000"/>
              </a:srgbClr>
            </a:solidFill>
          </c:spPr>
          <c:cat>
            <c:strLit>
              <c:ptCount val="7"/>
              <c:pt idx="0">
                <c:v>HOSPITAL CAPINOTA</c:v>
              </c:pt>
              <c:pt idx="1">
                <c:v>IRPA IRPA</c:v>
              </c:pt>
              <c:pt idx="2">
                <c:v>CHARAMOCO</c:v>
              </c:pt>
              <c:pt idx="3">
                <c:v>APILLAPAMPA</c:v>
              </c:pt>
              <c:pt idx="4">
                <c:v>COBOCE</c:v>
              </c:pt>
              <c:pt idx="5">
                <c:v>HORNOMA</c:v>
              </c:pt>
              <c:pt idx="6">
                <c:v>MOLLINI</c:v>
              </c:pt>
            </c:strLit>
          </c:cat>
          <c:val>
            <c:numLit>
              <c:ptCount val="7"/>
              <c:pt idx="0">
                <c:v>80</c:v>
              </c:pt>
              <c:pt idx="1">
                <c:v>28</c:v>
              </c:pt>
              <c:pt idx="2">
                <c:v>7</c:v>
              </c:pt>
              <c:pt idx="3">
                <c:v>5</c:v>
              </c:pt>
              <c:pt idx="4">
                <c:v>5</c:v>
              </c:pt>
              <c:pt idx="5">
                <c:v>4</c:v>
              </c:pt>
              <c:pt idx="6">
                <c:v>4</c:v>
              </c:pt>
            </c:numLit>
          </c:val>
        </c:ser>
        <c:ser>
          <c:idx val="1"/>
          <c:order val="1"/>
          <c:tx>
            <c:v>Partos institucionales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00897B">
                <a:alpha val="100000"/>
              </a:srgbClr>
            </a:solidFill>
          </c:spPr>
          <c:cat>
            <c:strLit>
              <c:ptCount val="7"/>
              <c:pt idx="0">
                <c:v>HOSPITAL CAPINOTA</c:v>
              </c:pt>
              <c:pt idx="1">
                <c:v>IRPA IRPA</c:v>
              </c:pt>
              <c:pt idx="2">
                <c:v>CHARAMOCO</c:v>
              </c:pt>
              <c:pt idx="3">
                <c:v>APILLAPAMPA</c:v>
              </c:pt>
              <c:pt idx="4">
                <c:v>COBOCE</c:v>
              </c:pt>
              <c:pt idx="5">
                <c:v>HORNOMA</c:v>
              </c:pt>
              <c:pt idx="6">
                <c:v>MOLLINI</c:v>
              </c:pt>
            </c:strLit>
          </c:cat>
          <c:val>
            <c:numLit>
              <c:ptCount val="7"/>
              <c:pt idx="0">
                <c:v>148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</c:numLit>
          </c:val>
        </c:ser>
        <c:gapWidth val="6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legend>
      <c:legendPos val="r"/>
      <c:layout>
        <c:manualLayout>
          <c:xMode val="edge"/>
          <c:yMode val="edge"/>
        </c:manualLayout>
      </c:layout>
      <c:overlay val="0"/>
      <c:spPr>
        <a:noFill/>
        <a:ln w="9525" cap="flat" cmpd="sng" algn="ctr">
          <a:solidFill>
            <a:srgbClr val="000000">
              <a:alpha val="100000"/>
            </a:srgbClr>
          </a:solidFill>
          <a:prstDash val="solid"/>
          <a:round/>
          <a:headEnd type="none" w="med" len="med"/>
          <a:tailEnd type="none" w="med" len="med"/>
        </a:ln>
      </c:spPr>
      <c:txPr>
        <a:bodyPr/>
        <a:lstStyle/>
        <a:p>
          <a:pPr algn="l" fontAlgn="base" marL="0" marR="0" indent="0" lvl="0">
            <a:defRPr b="true" i="false" strike="noStrike" sz="1000" u="none">
              <a:solidFill>
                <a:srgbClr val="000000">
                  <a:alpha val="100000"/>
                </a:srgbClr>
              </a:solidFill>
              <a:latin typeface="Calibri"/>
            </a:defRPr>
          </a:pPr>
          <a:endParaRPr lang="en-US" dirty="0"/>
        </a:p>
      </c:txPr>
    </c:legend>
    <c:plotVisOnly val="1"/>
    <c:dispBlanksAs val="zero"/>
  </c:chart>
  <c:spPr>
    <a:noFill/>
  </c:spPr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MEF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B0BEC5">
                <a:alpha val="100000"/>
              </a:srgbClr>
            </a:solidFill>
          </c:spPr>
          <c:cat>
            <c:strLit>
              <c:ptCount val="7"/>
              <c:pt idx="0">
                <c:v>HOSPITAL CAPINOTA</c:v>
              </c:pt>
              <c:pt idx="1">
                <c:v>IRPA IRPA</c:v>
              </c:pt>
              <c:pt idx="2">
                <c:v>CHARAMOCO</c:v>
              </c:pt>
              <c:pt idx="3">
                <c:v>APILLAPAMPA</c:v>
              </c:pt>
              <c:pt idx="4">
                <c:v>COBOCE</c:v>
              </c:pt>
              <c:pt idx="5">
                <c:v>HORNOMA</c:v>
              </c:pt>
              <c:pt idx="6">
                <c:v>MOLLINI</c:v>
              </c:pt>
            </c:strLit>
          </c:cat>
          <c:val>
            <c:numLit>
              <c:ptCount val="7"/>
              <c:pt idx="0">
                <c:v>1019</c:v>
              </c:pt>
              <c:pt idx="1">
                <c:v>357</c:v>
              </c:pt>
              <c:pt idx="2">
                <c:v>85</c:v>
              </c:pt>
              <c:pt idx="3">
                <c:v>68</c:v>
              </c:pt>
              <c:pt idx="4">
                <c:v>68</c:v>
              </c:pt>
              <c:pt idx="5">
                <c:v>51</c:v>
              </c:pt>
              <c:pt idx="6">
                <c:v>51</c:v>
              </c:pt>
            </c:numLit>
          </c:val>
        </c:ser>
        <c:ser>
          <c:idx val="1"/>
          <c:order val="1"/>
          <c:tx>
            <c:v>Métodos modernos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AD1457">
                <a:alpha val="100000"/>
              </a:srgbClr>
            </a:solidFill>
          </c:spPr>
          <c:cat>
            <c:strLit>
              <c:ptCount val="7"/>
              <c:pt idx="0">
                <c:v>HOSPITAL CAPINOTA</c:v>
              </c:pt>
              <c:pt idx="1">
                <c:v>IRPA IRPA</c:v>
              </c:pt>
              <c:pt idx="2">
                <c:v>CHARAMOCO</c:v>
              </c:pt>
              <c:pt idx="3">
                <c:v>APILLAPAMPA</c:v>
              </c:pt>
              <c:pt idx="4">
                <c:v>COBOCE</c:v>
              </c:pt>
              <c:pt idx="5">
                <c:v>HORNOMA</c:v>
              </c:pt>
              <c:pt idx="6">
                <c:v>MOLLINI</c:v>
              </c:pt>
            </c:strLit>
          </c:cat>
          <c:val>
            <c:numLit>
              <c:ptCount val="7"/>
              <c:pt idx="0">
                <c:v>198</c:v>
              </c:pt>
              <c:pt idx="1">
                <c:v>76</c:v>
              </c:pt>
              <c:pt idx="2">
                <c:v>24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</c:numLit>
          </c:val>
        </c:ser>
        <c:gapWidth val="6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legend>
      <c:legendPos val="r"/>
      <c:layout>
        <c:manualLayout>
          <c:xMode val="edge"/>
          <c:yMode val="edge"/>
        </c:manualLayout>
      </c:layout>
      <c:overlay val="0"/>
      <c:spPr>
        <a:noFill/>
        <a:ln w="9525" cap="flat" cmpd="sng" algn="ctr">
          <a:solidFill>
            <a:srgbClr val="000000">
              <a:alpha val="100000"/>
            </a:srgbClr>
          </a:solidFill>
          <a:prstDash val="solid"/>
          <a:round/>
          <a:headEnd type="none" w="med" len="med"/>
          <a:tailEnd type="none" w="med" len="med"/>
        </a:ln>
      </c:spPr>
      <c:txPr>
        <a:bodyPr/>
        <a:lstStyle/>
        <a:p>
          <a:pPr algn="l" fontAlgn="base" marL="0" marR="0" indent="0" lvl="0">
            <a:defRPr b="true" i="false" strike="noStrike" sz="1000" u="none">
              <a:solidFill>
                <a:srgbClr val="000000">
                  <a:alpha val="100000"/>
                </a:srgbClr>
              </a:solidFill>
              <a:latin typeface="Calibri"/>
            </a:defRPr>
          </a:pPr>
          <a:endParaRPr lang="en-US" dirty="0"/>
        </a:p>
      </c:txPr>
    </c:legend>
    <c:plotVisOnly val="1"/>
    <c:dispBlanksAs val="zero"/>
  </c:chart>
  <c:spPr>
    <a:noFill/>
  </c:spPr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CPN nuevas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00897B">
                <a:alpha val="100000"/>
              </a:srgbClr>
            </a:solidFill>
          </c:spPr>
          <c:cat>
            <c:strLit>
              <c:ptCount val="7"/>
              <c:pt idx="0">
                <c:v>HOSPITAL CAPINOTA</c:v>
              </c:pt>
              <c:pt idx="1">
                <c:v>IRPA IRPA</c:v>
              </c:pt>
              <c:pt idx="2">
                <c:v>CHARAMOCO</c:v>
              </c:pt>
              <c:pt idx="3">
                <c:v>APILLAPAMPA</c:v>
              </c:pt>
              <c:pt idx="4">
                <c:v>COBOCE</c:v>
              </c:pt>
              <c:pt idx="5">
                <c:v>HORNOMA</c:v>
              </c:pt>
              <c:pt idx="6">
                <c:v>MOLLINI</c:v>
              </c:pt>
            </c:strLit>
          </c:cat>
          <c:val>
            <c:numLit>
              <c:ptCount val="7"/>
              <c:pt idx="0">
                <c:v>167</c:v>
              </c:pt>
              <c:pt idx="1">
                <c:v>52</c:v>
              </c:pt>
              <c:pt idx="2">
                <c:v>24</c:v>
              </c:pt>
              <c:pt idx="3">
                <c:v>0</c:v>
              </c:pt>
              <c:pt idx="4">
                <c:v>12</c:v>
              </c:pt>
              <c:pt idx="5">
                <c:v>0</c:v>
              </c:pt>
              <c:pt idx="6">
                <c:v>0</c:v>
              </c:pt>
            </c:numLit>
          </c:val>
        </c:ser>
        <c:ser>
          <c:idx val="1"/>
          <c:order val="1"/>
          <c:tx>
            <c:v>Emb. adolescente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AD1457">
                <a:alpha val="100000"/>
              </a:srgbClr>
            </a:solidFill>
          </c:spPr>
          <c:cat>
            <c:strLit>
              <c:ptCount val="7"/>
              <c:pt idx="0">
                <c:v>HOSPITAL CAPINOTA</c:v>
              </c:pt>
              <c:pt idx="1">
                <c:v>IRPA IRPA</c:v>
              </c:pt>
              <c:pt idx="2">
                <c:v>CHARAMOCO</c:v>
              </c:pt>
              <c:pt idx="3">
                <c:v>APILLAPAMPA</c:v>
              </c:pt>
              <c:pt idx="4">
                <c:v>COBOCE</c:v>
              </c:pt>
              <c:pt idx="5">
                <c:v>HORNOMA</c:v>
              </c:pt>
              <c:pt idx="6">
                <c:v>MOLLINI</c:v>
              </c:pt>
            </c:strLit>
          </c:cat>
          <c:val>
            <c:numLit>
              <c:ptCount val="7"/>
              <c:pt idx="0">
                <c:v>59</c:v>
              </c:pt>
              <c:pt idx="1">
                <c:v>18</c:v>
              </c:pt>
              <c:pt idx="2">
                <c:v>8</c:v>
              </c:pt>
              <c:pt idx="3">
                <c:v>0</c:v>
              </c:pt>
              <c:pt idx="4">
                <c:v>4</c:v>
              </c:pt>
              <c:pt idx="5">
                <c:v>0</c:v>
              </c:pt>
              <c:pt idx="6">
                <c:v>0</c:v>
              </c:pt>
            </c:numLit>
          </c:val>
        </c:ser>
        <c:gapWidth val="6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legend>
      <c:legendPos val="r"/>
      <c:layout>
        <c:manualLayout>
          <c:xMode val="edge"/>
          <c:yMode val="edge"/>
        </c:manualLayout>
      </c:layout>
      <c:overlay val="0"/>
      <c:spPr>
        <a:noFill/>
        <a:ln w="9525" cap="flat" cmpd="sng" algn="ctr">
          <a:solidFill>
            <a:srgbClr val="000000">
              <a:alpha val="100000"/>
            </a:srgbClr>
          </a:solidFill>
          <a:prstDash val="solid"/>
          <a:round/>
          <a:headEnd type="none" w="med" len="med"/>
          <a:tailEnd type="none" w="med" len="med"/>
        </a:ln>
      </c:spPr>
      <c:txPr>
        <a:bodyPr/>
        <a:lstStyle/>
        <a:p>
          <a:pPr algn="l" fontAlgn="base" marL="0" marR="0" indent="0" lvl="0">
            <a:defRPr b="true" i="false" strike="noStrike" sz="1000" u="none">
              <a:solidFill>
                <a:srgbClr val="000000">
                  <a:alpha val="100000"/>
                </a:srgbClr>
              </a:solidFill>
              <a:latin typeface="Calibri"/>
            </a:defRPr>
          </a:pPr>
          <a:endParaRPr lang="en-US" dirty="0"/>
        </a:p>
      </c:txPr>
    </c:legend>
    <c:plotVisOnly val="1"/>
    <c:dispBlanksAs val="zero"/>
  </c:chart>
  <c:spPr>
    <a:noFill/>
  </c:spPr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v>Consultantes</c:v>
          </c:tx>
          <c:dLbls>
            <c:txPr>
              <a:bodyPr/>
              <a:lstStyle/>
              <a:p>
                <a:pPr>
                  <a:defRPr b="true" i="false" strike="noStrike" sz="900" u="none">
                    <a:solidFill>
                      <a:srgbClr val="333333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outEnd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00897B">
                <a:alpha val="100000"/>
              </a:srgbClr>
            </a:solidFill>
          </c:spPr>
          <c:cat>
            <c:strLit>
              <c:ptCount val="7"/>
              <c:pt idx="0">
                <c:v>HOSPITAL CAPINOTA</c:v>
              </c:pt>
              <c:pt idx="1">
                <c:v>IRPA IRPA</c:v>
              </c:pt>
              <c:pt idx="2">
                <c:v>CHARAMOCO</c:v>
              </c:pt>
              <c:pt idx="3">
                <c:v>APILLAPAMPA</c:v>
              </c:pt>
              <c:pt idx="4">
                <c:v>COBOCE</c:v>
              </c:pt>
              <c:pt idx="5">
                <c:v>HORNOMA</c:v>
              </c:pt>
              <c:pt idx="6">
                <c:v>MOLLINI</c:v>
              </c:pt>
            </c:strLit>
          </c:cat>
          <c:val>
            <c:numLit>
              <c:ptCount val="7"/>
              <c:pt idx="0">
                <c:v>5480</c:v>
              </c:pt>
              <c:pt idx="1">
                <c:v>1785</c:v>
              </c:pt>
              <c:pt idx="2">
                <c:v>724</c:v>
              </c:pt>
              <c:pt idx="3">
                <c:v>80</c:v>
              </c:pt>
              <c:pt idx="4">
                <c:v>248</c:v>
              </c:pt>
              <c:pt idx="5">
                <c:v>160</c:v>
              </c:pt>
              <c:pt idx="6">
                <c:v>80</c:v>
              </c:pt>
            </c:numLit>
          </c:val>
        </c:ser>
        <c:gapWidth val="6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436577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3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4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5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6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7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8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9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0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2.xml"/>
  <Relationship Id="rId3" Type="http://schemas.openxmlformats.org/officeDocument/2006/relationships/chart" Target="../charts/chart13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5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7.xml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9.xml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21.xml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23.xml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25.xml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27.xml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29.xml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381000"/>
            <a:ext cx="12192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546E7A">
                    <a:alpha val="100000"/>
                  </a:srgbClr>
                </a:solidFill>
                <a:latin typeface="Calibri"/>
              </a:rPr>
              <a:t><![CDATA[Vacunación gestión 2026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952500"/>
            <a:ext cx="11049000" cy="14287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571500" y="952500"/>
            <a:ext cx="11049000" cy="57150"/>
          </a:xfrm>
          <a:prstGeom prst="rect">
            <a:avLst/>
          </a:prstGeom>
          <a:solidFill>
            <a:srgbClr val="00838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762000" y="1066800"/>
            <a:ext cx="10668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MITÉ DE ANÁLISIS DE INFORMACIÓN]]></a:t>
            </a:r>
          </a:p>
        </p:txBody>
      </p:sp>
      <p:sp>
        <p:nvSpPr>
          <p:cNvPr id="7" name=""/>
          <p:cNvSpPr txBox="1"/>
          <p:nvPr/>
        </p:nvSpPr>
        <p:spPr>
          <a:xfrm>
            <a:off x="762000" y="1600200"/>
            <a:ext cx="10668000" cy="5238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UNICIPIO DE CAPINOT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2381250" y="2667000"/>
            <a:ext cx="7429500" cy="47625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"/>
          <p:cNvSpPr txBox="1"/>
          <p:nvPr/>
        </p:nvSpPr>
        <p:spPr>
          <a:xfrm>
            <a:off x="2476500" y="2762250"/>
            <a:ext cx="72390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NERO – ABRIL 2026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0" y="3429000"/>
            <a:ext cx="12192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37474F">
                    <a:alpha val="100000"/>
                  </a:srgbClr>
                </a:solidFill>
                <a:latin typeface="Calibri"/>
              </a:rPr>
              <a:t><![CDATA[Departamento de Cochabamba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3810000" y="4000500"/>
            <a:ext cx="4572000" cy="381000"/>
          </a:xfrm>
          <a:prstGeom prst="rect">
            <a:avLst/>
          </a:prstGeom>
          <a:solidFill>
            <a:srgbClr val="ECEFF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"/>
          <p:cNvSpPr txBox="1"/>
          <p:nvPr/>
        </p:nvSpPr>
        <p:spPr>
          <a:xfrm>
            <a:off x="3810000" y="4057650"/>
            <a:ext cx="4572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00897B">
                    <a:alpha val="100000"/>
                  </a:srgbClr>
                </a:solidFill>
                <a:latin typeface="Calibri"/>
              </a:rPr>
              <a:t><![CDATA[7 Establecimientos de Salud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"/>
          <p:cNvSpPr txBox="1"/>
          <p:nvPr/>
        </p:nvSpPr>
        <p:spPr>
          <a:xfrm>
            <a:off x="0" y="6191250"/>
            <a:ext cx="12192000" cy="47625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"/>
          <p:cNvSpPr txBox="1"/>
          <p:nvPr/>
        </p:nvSpPr>
        <p:spPr>
          <a:xfrm>
            <a:off x="381000" y="6334125"/>
            <a:ext cx="11430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Red de Salud VII Capinota · Ministerio de Salud y Deportes · Bolivia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81000" y="6553200"/>
            <a:ext cx="11430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B2DFDB">
                    <a:alpha val="100000"/>
                  </a:srgbClr>
                </a:solidFill>
                <a:latin typeface="Calibri"/>
              </a:rPr>
              <a:t><![CDATA[SICSAL — Sistema de Información Censal en Salud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76200" y="0"/>
            <a:ext cx="12115800" cy="8572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76200" y="828675"/>
            <a:ext cx="12115800" cy="28575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476250" y="76200"/>
            <a:ext cx="11239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OBLACIÓN MUNICIPIO CAPINOT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76250" y="476250"/>
            <a:ext cx="11239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yección INE — Gestión 2026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6200" y="857250"/>
            <a:ext cx="12115800" cy="3048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cxnSp>
        <p:nvCxnSpPr>
          <p:cNvPr id="9" name=""/>
          <p:cNvCxnSpPr/>
          <p:nvPr/>
        </p:nvCxnSpPr>
        <p:spPr>
          <a:xfrm>
            <a:off x="381000" y="11525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"/>
          <p:cNvSpPr txBox="1"/>
          <p:nvPr/>
        </p:nvSpPr>
        <p:spPr>
          <a:xfrm>
            <a:off x="476250" y="904875"/>
            <a:ext cx="112395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37474F">
                    <a:alpha val="100000"/>
                  </a:srgbClr>
                </a:solidFill>
                <a:latin typeface="Calibri"/>
              </a:rPr>
              <a:t><![CDATA[ENERO – ABRIL 2026]]></a:t>
            </a:r>
          </a:p>
        </p:txBody>
      </p:sp>
      <p:graphicFrame>
        <p:nvGraphicFramePr>
          <p:cNvPr id="11" name="" descr=""/>
          <p:cNvGraphicFramePr/>
          <p:nvPr/>
        </p:nvGraphicFramePr>
        <p:xfrm>
          <a:off x="381000" y="1200150"/>
          <a:ext cx="11430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" descr=""/>
          <p:cNvGraphicFramePr>
            <a:graphicFrameLocks noGrp="1"/>
          </p:cNvGraphicFramePr>
          <p:nvPr/>
        </p:nvGraphicFramePr>
        <p:xfrm>
          <a:off x="1143000" y="4381500"/>
          <a:ext cx="5715000" cy="1885950"/>
        </p:xfrm>
        <a:graphic>
          <a:graphicData uri="http://schemas.openxmlformats.org/drawingml/2006/table">
            <a:tbl>
              <a:tblPr firstRow="1" bandRow="1"/>
              <a:tblGrid>
                <a:gridCol w="2857500"/>
                <a:gridCol w="2857500"/>
              </a:tblGrid>
              <a:tr h="2476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Establecimiento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Población INE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</a:tr>
              <a:tr h="2095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Hospital Capinot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2,811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095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Irpa Irp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,48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095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Charamoco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,06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095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Apillapamp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85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095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I.S. Coboce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85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095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A. HORNOM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641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095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Mollini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641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095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TOTAL MUNICIPIO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21,353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13" name=""/>
          <p:cNvCxnSpPr/>
          <p:nvPr/>
        </p:nvCxnSpPr>
        <p:spPr>
          <a:xfrm>
            <a:off x="381000" y="65246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"/>
          <p:cNvSpPr txBox="1"/>
          <p:nvPr/>
        </p:nvSpPr>
        <p:spPr>
          <a:xfrm>
            <a:off x="190500" y="6572250"/>
            <a:ext cx="2857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Fuente: SNIS - RNVe / INE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762500" y="6572250"/>
            <a:ext cx="7239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SICSAL · Municipio CAPINOTA · ENERO – ABRIL 2026 · 05/04/2026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76200" y="0"/>
            <a:ext cx="12115800" cy="8572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76200" y="828675"/>
            <a:ext cx="12115800" cy="28575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476250" y="76200"/>
            <a:ext cx="11239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IRÁMIDE POBLACIONAL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76250" y="476250"/>
            <a:ext cx="11239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Distribución por grupo etáreo — INE 2026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6200" y="857250"/>
            <a:ext cx="12115800" cy="3048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cxnSp>
        <p:nvCxnSpPr>
          <p:cNvPr id="9" name=""/>
          <p:cNvCxnSpPr/>
          <p:nvPr/>
        </p:nvCxnSpPr>
        <p:spPr>
          <a:xfrm>
            <a:off x="381000" y="11525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"/>
          <p:cNvSpPr txBox="1"/>
          <p:nvPr/>
        </p:nvSpPr>
        <p:spPr>
          <a:xfrm>
            <a:off x="476250" y="904875"/>
            <a:ext cx="112395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37474F">
                    <a:alpha val="100000"/>
                  </a:srgbClr>
                </a:solidFill>
                <a:latin typeface="Calibri"/>
              </a:rPr>
              <a:t><![CDATA[ENERO – ABRIL 2026]]></a:t>
            </a:r>
          </a:p>
        </p:txBody>
      </p:sp>
      <p:graphicFrame>
        <p:nvGraphicFramePr>
          <p:cNvPr id="11" name="" descr=""/>
          <p:cNvGraphicFramePr/>
          <p:nvPr/>
        </p:nvGraphicFramePr>
        <p:xfrm>
          <a:off x="381000" y="1200150"/>
          <a:ext cx="11430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"/>
          <p:cNvSpPr txBox="1"/>
          <p:nvPr/>
        </p:nvSpPr>
        <p:spPr>
          <a:xfrm>
            <a:off x="381000" y="4953000"/>
            <a:ext cx="3619500" cy="342900"/>
          </a:xfrm>
          <a:prstGeom prst="rect">
            <a:avLst/>
          </a:prstGeom>
          <a:solidFill>
            <a:srgbClr val="00897B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"/>
          <p:cNvSpPr txBox="1"/>
          <p:nvPr/>
        </p:nvSpPr>
        <p:spPr>
          <a:xfrm>
            <a:off x="476250" y="5010150"/>
            <a:ext cx="34290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  Población total INE: 21,358]]></a:t>
            </a:r>
          </a:p>
        </p:txBody>
      </p:sp>
      <p:cxnSp>
        <p:nvCxnSpPr>
          <p:cNvPr id="14" name=""/>
          <p:cNvCxnSpPr/>
          <p:nvPr/>
        </p:nvCxnSpPr>
        <p:spPr>
          <a:xfrm>
            <a:off x="381000" y="65246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"/>
          <p:cNvSpPr txBox="1"/>
          <p:nvPr/>
        </p:nvSpPr>
        <p:spPr>
          <a:xfrm>
            <a:off x="190500" y="6572250"/>
            <a:ext cx="2857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Fuente: SNIS - RNVe / INE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762500" y="6572250"/>
            <a:ext cx="7239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SICSAL · Municipio CAPINOTA · ENERO – ABRIL 2026 · 05/04/2026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76200" y="0"/>
            <a:ext cx="12115800" cy="8572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76200" y="828675"/>
            <a:ext cx="12115800" cy="28575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476250" y="76200"/>
            <a:ext cx="11239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UNICIPIO CAPINOT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76250" y="476250"/>
            <a:ext cx="11239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Indicadores de Acceso Esquema Regular de Vacunacion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6200" y="857250"/>
            <a:ext cx="12115800" cy="3048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cxnSp>
        <p:nvCxnSpPr>
          <p:cNvPr id="9" name=""/>
          <p:cNvCxnSpPr/>
          <p:nvPr/>
        </p:nvCxnSpPr>
        <p:spPr>
          <a:xfrm>
            <a:off x="381000" y="11525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"/>
          <p:cNvSpPr txBox="1"/>
          <p:nvPr/>
        </p:nvSpPr>
        <p:spPr>
          <a:xfrm>
            <a:off x="476250" y="904875"/>
            <a:ext cx="112395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37474F">
                    <a:alpha val="100000"/>
                  </a:srgbClr>
                </a:solidFill>
                <a:latin typeface="Calibri"/>
              </a:rPr>
              <a:t><![CDATA[ENERO – ABRIL 2026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71500" y="1190625"/>
            <a:ext cx="8277225" cy="2476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"/>
          <p:cNvSpPr txBox="1"/>
          <p:nvPr/>
        </p:nvSpPr>
        <p:spPr>
          <a:xfrm>
            <a:off x="571500" y="1219200"/>
            <a:ext cx="8277225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enor a 1 año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8848725" y="1190625"/>
            <a:ext cx="1771650" cy="247650"/>
          </a:xfrm>
          <a:prstGeom prst="rect">
            <a:avLst/>
          </a:prstGeom>
          <a:solidFill>
            <a:srgbClr val="0277BD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"/>
          <p:cNvSpPr txBox="1"/>
          <p:nvPr/>
        </p:nvSpPr>
        <p:spPr>
          <a:xfrm>
            <a:off x="8848725" y="1219200"/>
            <a:ext cx="177165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De 1 añ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10620375" y="1190625"/>
            <a:ext cx="1181100" cy="247650"/>
          </a:xfrm>
          <a:prstGeom prst="rect">
            <a:avLst/>
          </a:prstGeom>
          <a:solidFill>
            <a:srgbClr val="AD1457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"/>
          <p:cNvSpPr txBox="1"/>
          <p:nvPr/>
        </p:nvSpPr>
        <p:spPr>
          <a:xfrm>
            <a:off x="10620375" y="1219200"/>
            <a:ext cx="1181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iñas 10 años]]></a:t>
            </a:r>
          </a:p>
        </p:txBody>
      </p:sp>
      <p:graphicFrame>
        <p:nvGraphicFramePr>
          <p:cNvPr id="17" name="" descr=""/>
          <p:cNvGraphicFramePr/>
          <p:nvPr/>
        </p:nvGraphicFramePr>
        <p:xfrm>
          <a:off x="190500" y="1447800"/>
          <a:ext cx="11811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"/>
          <p:cNvSpPr txBox="1"/>
          <p:nvPr/>
        </p:nvSpPr>
        <p:spPr>
          <a:xfrm>
            <a:off x="9715500" y="5191125"/>
            <a:ext cx="2190750" cy="266700"/>
          </a:xfrm>
          <a:prstGeom prst="rect">
            <a:avLst/>
          </a:prstGeom>
          <a:solidFill>
            <a:srgbClr val="C62828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"/>
          <p:cNvSpPr txBox="1"/>
          <p:nvPr/>
        </p:nvSpPr>
        <p:spPr>
          <a:xfrm>
            <a:off x="9753600" y="5229225"/>
            <a:ext cx="211455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◄  Meta 33% acum.  ►]]></a:t>
            </a:r>
          </a:p>
        </p:txBody>
      </p:sp>
      <p:cxnSp>
        <p:nvCxnSpPr>
          <p:cNvPr id="20" name=""/>
          <p:cNvCxnSpPr/>
          <p:nvPr/>
        </p:nvCxnSpPr>
        <p:spPr>
          <a:xfrm>
            <a:off x="381000" y="65246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"/>
          <p:cNvSpPr txBox="1"/>
          <p:nvPr/>
        </p:nvSpPr>
        <p:spPr>
          <a:xfrm>
            <a:off x="190500" y="6572250"/>
            <a:ext cx="2857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Fuente: SNIS - RNVe / INE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4762500" y="6572250"/>
            <a:ext cx="7239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SICSAL · Municipio CAPINOTA · ENERO – ABRIL 2026 · 05/04/2026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76200" y="0"/>
            <a:ext cx="12115800" cy="8572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76200" y="828675"/>
            <a:ext cx="12115800" cy="28575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476250" y="76200"/>
            <a:ext cx="11239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HOSPITAL CAPINOT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76250" y="476250"/>
            <a:ext cx="11239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Indicadores de Acceso Esquema Regular de Vacunacion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6200" y="857250"/>
            <a:ext cx="12115800" cy="3048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cxnSp>
        <p:nvCxnSpPr>
          <p:cNvPr id="9" name=""/>
          <p:cNvCxnSpPr/>
          <p:nvPr/>
        </p:nvCxnSpPr>
        <p:spPr>
          <a:xfrm>
            <a:off x="381000" y="11525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"/>
          <p:cNvSpPr txBox="1"/>
          <p:nvPr/>
        </p:nvSpPr>
        <p:spPr>
          <a:xfrm>
            <a:off x="476250" y="904875"/>
            <a:ext cx="112395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37474F">
                    <a:alpha val="100000"/>
                  </a:srgbClr>
                </a:solidFill>
                <a:latin typeface="Calibri"/>
              </a:rPr>
              <a:t><![CDATA[ENERO – ABRIL 2026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71500" y="1190625"/>
            <a:ext cx="8277225" cy="2476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"/>
          <p:cNvSpPr txBox="1"/>
          <p:nvPr/>
        </p:nvSpPr>
        <p:spPr>
          <a:xfrm>
            <a:off x="571500" y="1219200"/>
            <a:ext cx="8277225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enor a 1 año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8848725" y="1190625"/>
            <a:ext cx="1771650" cy="247650"/>
          </a:xfrm>
          <a:prstGeom prst="rect">
            <a:avLst/>
          </a:prstGeom>
          <a:solidFill>
            <a:srgbClr val="0277BD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"/>
          <p:cNvSpPr txBox="1"/>
          <p:nvPr/>
        </p:nvSpPr>
        <p:spPr>
          <a:xfrm>
            <a:off x="8848725" y="1219200"/>
            <a:ext cx="177165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 añ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10620375" y="1190625"/>
            <a:ext cx="1181100" cy="247650"/>
          </a:xfrm>
          <a:prstGeom prst="rect">
            <a:avLst/>
          </a:prstGeom>
          <a:solidFill>
            <a:srgbClr val="AD1457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"/>
          <p:cNvSpPr txBox="1"/>
          <p:nvPr/>
        </p:nvSpPr>
        <p:spPr>
          <a:xfrm>
            <a:off x="10620375" y="1219200"/>
            <a:ext cx="1181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0 años]]></a:t>
            </a:r>
          </a:p>
        </p:txBody>
      </p:sp>
      <p:graphicFrame>
        <p:nvGraphicFramePr>
          <p:cNvPr id="17" name="" descr=""/>
          <p:cNvGraphicFramePr/>
          <p:nvPr/>
        </p:nvGraphicFramePr>
        <p:xfrm>
          <a:off x="190500" y="1447800"/>
          <a:ext cx="11811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"/>
          <p:cNvSpPr txBox="1"/>
          <p:nvPr/>
        </p:nvSpPr>
        <p:spPr>
          <a:xfrm>
            <a:off x="9715500" y="5191125"/>
            <a:ext cx="2190750" cy="266700"/>
          </a:xfrm>
          <a:prstGeom prst="rect">
            <a:avLst/>
          </a:prstGeom>
          <a:solidFill>
            <a:srgbClr val="C62828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"/>
          <p:cNvSpPr txBox="1"/>
          <p:nvPr/>
        </p:nvSpPr>
        <p:spPr>
          <a:xfrm>
            <a:off x="9753600" y="5229225"/>
            <a:ext cx="211455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◄  Meta 33% acum.  ►]]></a:t>
            </a:r>
          </a:p>
        </p:txBody>
      </p:sp>
      <p:cxnSp>
        <p:nvCxnSpPr>
          <p:cNvPr id="20" name=""/>
          <p:cNvCxnSpPr/>
          <p:nvPr/>
        </p:nvCxnSpPr>
        <p:spPr>
          <a:xfrm>
            <a:off x="381000" y="65246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"/>
          <p:cNvSpPr txBox="1"/>
          <p:nvPr/>
        </p:nvSpPr>
        <p:spPr>
          <a:xfrm>
            <a:off x="190500" y="6572250"/>
            <a:ext cx="2857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Fuente: SNIS - RNVe / INE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4762500" y="6572250"/>
            <a:ext cx="7239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SICSAL · Municipio CAPINOTA · ENERO – ABRIL 2026 · 05/04/2026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76200" y="0"/>
            <a:ext cx="12115800" cy="8572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76200" y="828675"/>
            <a:ext cx="12115800" cy="28575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476250" y="76200"/>
            <a:ext cx="11239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.S. IRPA IRP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76250" y="476250"/>
            <a:ext cx="11239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Indicadores de Acceso Esquema Regular de Vacunacion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6200" y="857250"/>
            <a:ext cx="12115800" cy="3048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cxnSp>
        <p:nvCxnSpPr>
          <p:cNvPr id="9" name=""/>
          <p:cNvCxnSpPr/>
          <p:nvPr/>
        </p:nvCxnSpPr>
        <p:spPr>
          <a:xfrm>
            <a:off x="381000" y="11525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"/>
          <p:cNvSpPr txBox="1"/>
          <p:nvPr/>
        </p:nvSpPr>
        <p:spPr>
          <a:xfrm>
            <a:off x="476250" y="904875"/>
            <a:ext cx="112395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37474F">
                    <a:alpha val="100000"/>
                  </a:srgbClr>
                </a:solidFill>
                <a:latin typeface="Calibri"/>
              </a:rPr>
              <a:t><![CDATA[ENERO – ABRIL 2026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71500" y="1190625"/>
            <a:ext cx="8277225" cy="2476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"/>
          <p:cNvSpPr txBox="1"/>
          <p:nvPr/>
        </p:nvSpPr>
        <p:spPr>
          <a:xfrm>
            <a:off x="571500" y="1219200"/>
            <a:ext cx="8277225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enor a 1 año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8848725" y="1190625"/>
            <a:ext cx="1771650" cy="247650"/>
          </a:xfrm>
          <a:prstGeom prst="rect">
            <a:avLst/>
          </a:prstGeom>
          <a:solidFill>
            <a:srgbClr val="0277BD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"/>
          <p:cNvSpPr txBox="1"/>
          <p:nvPr/>
        </p:nvSpPr>
        <p:spPr>
          <a:xfrm>
            <a:off x="8848725" y="1219200"/>
            <a:ext cx="177165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 añ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10620375" y="1190625"/>
            <a:ext cx="1181100" cy="247650"/>
          </a:xfrm>
          <a:prstGeom prst="rect">
            <a:avLst/>
          </a:prstGeom>
          <a:solidFill>
            <a:srgbClr val="AD1457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"/>
          <p:cNvSpPr txBox="1"/>
          <p:nvPr/>
        </p:nvSpPr>
        <p:spPr>
          <a:xfrm>
            <a:off x="10620375" y="1219200"/>
            <a:ext cx="1181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0 años]]></a:t>
            </a:r>
          </a:p>
        </p:txBody>
      </p:sp>
      <p:graphicFrame>
        <p:nvGraphicFramePr>
          <p:cNvPr id="17" name="" descr=""/>
          <p:cNvGraphicFramePr/>
          <p:nvPr/>
        </p:nvGraphicFramePr>
        <p:xfrm>
          <a:off x="190500" y="1447800"/>
          <a:ext cx="11811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"/>
          <p:cNvSpPr txBox="1"/>
          <p:nvPr/>
        </p:nvSpPr>
        <p:spPr>
          <a:xfrm>
            <a:off x="9715500" y="5191125"/>
            <a:ext cx="2190750" cy="266700"/>
          </a:xfrm>
          <a:prstGeom prst="rect">
            <a:avLst/>
          </a:prstGeom>
          <a:solidFill>
            <a:srgbClr val="C62828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"/>
          <p:cNvSpPr txBox="1"/>
          <p:nvPr/>
        </p:nvSpPr>
        <p:spPr>
          <a:xfrm>
            <a:off x="9753600" y="5229225"/>
            <a:ext cx="211455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◄  Meta 33% acum.  ►]]></a:t>
            </a:r>
          </a:p>
        </p:txBody>
      </p:sp>
      <p:cxnSp>
        <p:nvCxnSpPr>
          <p:cNvPr id="20" name=""/>
          <p:cNvCxnSpPr/>
          <p:nvPr/>
        </p:nvCxnSpPr>
        <p:spPr>
          <a:xfrm>
            <a:off x="381000" y="65246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"/>
          <p:cNvSpPr txBox="1"/>
          <p:nvPr/>
        </p:nvSpPr>
        <p:spPr>
          <a:xfrm>
            <a:off x="190500" y="6572250"/>
            <a:ext cx="2857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Fuente: SNIS - RNVe / INE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4762500" y="6572250"/>
            <a:ext cx="7239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SICSAL · Municipio CAPINOTA · ENERO – ABRIL 2026 · 05/04/2026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76200" y="0"/>
            <a:ext cx="12115800" cy="8572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76200" y="828675"/>
            <a:ext cx="12115800" cy="28575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476250" y="76200"/>
            <a:ext cx="11239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.S. CHARAMOC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76250" y="476250"/>
            <a:ext cx="11239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Indicadores de Acceso Esquema Regular de Vacunacion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6200" y="857250"/>
            <a:ext cx="12115800" cy="3048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cxnSp>
        <p:nvCxnSpPr>
          <p:cNvPr id="9" name=""/>
          <p:cNvCxnSpPr/>
          <p:nvPr/>
        </p:nvCxnSpPr>
        <p:spPr>
          <a:xfrm>
            <a:off x="381000" y="11525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"/>
          <p:cNvSpPr txBox="1"/>
          <p:nvPr/>
        </p:nvSpPr>
        <p:spPr>
          <a:xfrm>
            <a:off x="476250" y="904875"/>
            <a:ext cx="112395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37474F">
                    <a:alpha val="100000"/>
                  </a:srgbClr>
                </a:solidFill>
                <a:latin typeface="Calibri"/>
              </a:rPr>
              <a:t><![CDATA[ENERO – ABRIL 2026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71500" y="1190625"/>
            <a:ext cx="8277225" cy="2476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"/>
          <p:cNvSpPr txBox="1"/>
          <p:nvPr/>
        </p:nvSpPr>
        <p:spPr>
          <a:xfrm>
            <a:off x="571500" y="1219200"/>
            <a:ext cx="8277225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enor a 1 año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8848725" y="1190625"/>
            <a:ext cx="1771650" cy="247650"/>
          </a:xfrm>
          <a:prstGeom prst="rect">
            <a:avLst/>
          </a:prstGeom>
          <a:solidFill>
            <a:srgbClr val="0277BD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"/>
          <p:cNvSpPr txBox="1"/>
          <p:nvPr/>
        </p:nvSpPr>
        <p:spPr>
          <a:xfrm>
            <a:off x="8848725" y="1219200"/>
            <a:ext cx="177165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 añ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10620375" y="1190625"/>
            <a:ext cx="1181100" cy="247650"/>
          </a:xfrm>
          <a:prstGeom prst="rect">
            <a:avLst/>
          </a:prstGeom>
          <a:solidFill>
            <a:srgbClr val="AD1457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"/>
          <p:cNvSpPr txBox="1"/>
          <p:nvPr/>
        </p:nvSpPr>
        <p:spPr>
          <a:xfrm>
            <a:off x="10620375" y="1219200"/>
            <a:ext cx="1181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0 años]]></a:t>
            </a:r>
          </a:p>
        </p:txBody>
      </p:sp>
      <p:graphicFrame>
        <p:nvGraphicFramePr>
          <p:cNvPr id="17" name="" descr=""/>
          <p:cNvGraphicFramePr/>
          <p:nvPr/>
        </p:nvGraphicFramePr>
        <p:xfrm>
          <a:off x="190500" y="1447800"/>
          <a:ext cx="11811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"/>
          <p:cNvSpPr txBox="1"/>
          <p:nvPr/>
        </p:nvSpPr>
        <p:spPr>
          <a:xfrm>
            <a:off x="9715500" y="5191125"/>
            <a:ext cx="2190750" cy="266700"/>
          </a:xfrm>
          <a:prstGeom prst="rect">
            <a:avLst/>
          </a:prstGeom>
          <a:solidFill>
            <a:srgbClr val="C62828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"/>
          <p:cNvSpPr txBox="1"/>
          <p:nvPr/>
        </p:nvSpPr>
        <p:spPr>
          <a:xfrm>
            <a:off x="9753600" y="5229225"/>
            <a:ext cx="211455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◄  Meta 33% acum.  ►]]></a:t>
            </a:r>
          </a:p>
        </p:txBody>
      </p:sp>
      <p:cxnSp>
        <p:nvCxnSpPr>
          <p:cNvPr id="20" name=""/>
          <p:cNvCxnSpPr/>
          <p:nvPr/>
        </p:nvCxnSpPr>
        <p:spPr>
          <a:xfrm>
            <a:off x="381000" y="65246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"/>
          <p:cNvSpPr txBox="1"/>
          <p:nvPr/>
        </p:nvSpPr>
        <p:spPr>
          <a:xfrm>
            <a:off x="190500" y="6572250"/>
            <a:ext cx="2857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Fuente: SNIS - RNVe / INE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4762500" y="6572250"/>
            <a:ext cx="7239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SICSAL · Municipio CAPINOTA · ENERO – ABRIL 2026 · 05/04/2026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76200" y="0"/>
            <a:ext cx="12115800" cy="8572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76200" y="828675"/>
            <a:ext cx="12115800" cy="28575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476250" y="76200"/>
            <a:ext cx="11239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.S. APILLAPAMP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76250" y="476250"/>
            <a:ext cx="11239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Indicadores de Acceso Esquema Regular de Vacunacion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6200" y="857250"/>
            <a:ext cx="12115800" cy="3048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cxnSp>
        <p:nvCxnSpPr>
          <p:cNvPr id="9" name=""/>
          <p:cNvCxnSpPr/>
          <p:nvPr/>
        </p:nvCxnSpPr>
        <p:spPr>
          <a:xfrm>
            <a:off x="381000" y="11525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"/>
          <p:cNvSpPr txBox="1"/>
          <p:nvPr/>
        </p:nvSpPr>
        <p:spPr>
          <a:xfrm>
            <a:off x="476250" y="904875"/>
            <a:ext cx="112395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37474F">
                    <a:alpha val="100000"/>
                  </a:srgbClr>
                </a:solidFill>
                <a:latin typeface="Calibri"/>
              </a:rPr>
              <a:t><![CDATA[ENERO – ABRIL 2026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71500" y="1190625"/>
            <a:ext cx="8277225" cy="2476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"/>
          <p:cNvSpPr txBox="1"/>
          <p:nvPr/>
        </p:nvSpPr>
        <p:spPr>
          <a:xfrm>
            <a:off x="571500" y="1219200"/>
            <a:ext cx="8277225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enor a 1 año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8848725" y="1190625"/>
            <a:ext cx="1771650" cy="247650"/>
          </a:xfrm>
          <a:prstGeom prst="rect">
            <a:avLst/>
          </a:prstGeom>
          <a:solidFill>
            <a:srgbClr val="0277BD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"/>
          <p:cNvSpPr txBox="1"/>
          <p:nvPr/>
        </p:nvSpPr>
        <p:spPr>
          <a:xfrm>
            <a:off x="8848725" y="1219200"/>
            <a:ext cx="177165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 añ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10620375" y="1190625"/>
            <a:ext cx="1181100" cy="247650"/>
          </a:xfrm>
          <a:prstGeom prst="rect">
            <a:avLst/>
          </a:prstGeom>
          <a:solidFill>
            <a:srgbClr val="AD1457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"/>
          <p:cNvSpPr txBox="1"/>
          <p:nvPr/>
        </p:nvSpPr>
        <p:spPr>
          <a:xfrm>
            <a:off x="10620375" y="1219200"/>
            <a:ext cx="1181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0 años]]></a:t>
            </a:r>
          </a:p>
        </p:txBody>
      </p:sp>
      <p:graphicFrame>
        <p:nvGraphicFramePr>
          <p:cNvPr id="17" name="" descr=""/>
          <p:cNvGraphicFramePr/>
          <p:nvPr/>
        </p:nvGraphicFramePr>
        <p:xfrm>
          <a:off x="190500" y="1447800"/>
          <a:ext cx="11811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"/>
          <p:cNvSpPr txBox="1"/>
          <p:nvPr/>
        </p:nvSpPr>
        <p:spPr>
          <a:xfrm>
            <a:off x="9715500" y="5191125"/>
            <a:ext cx="2190750" cy="266700"/>
          </a:xfrm>
          <a:prstGeom prst="rect">
            <a:avLst/>
          </a:prstGeom>
          <a:solidFill>
            <a:srgbClr val="C62828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"/>
          <p:cNvSpPr txBox="1"/>
          <p:nvPr/>
        </p:nvSpPr>
        <p:spPr>
          <a:xfrm>
            <a:off x="9753600" y="5229225"/>
            <a:ext cx="211455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◄  Meta 33% acum.  ►]]></a:t>
            </a:r>
          </a:p>
        </p:txBody>
      </p:sp>
      <p:cxnSp>
        <p:nvCxnSpPr>
          <p:cNvPr id="20" name=""/>
          <p:cNvCxnSpPr/>
          <p:nvPr/>
        </p:nvCxnSpPr>
        <p:spPr>
          <a:xfrm>
            <a:off x="381000" y="65246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"/>
          <p:cNvSpPr txBox="1"/>
          <p:nvPr/>
        </p:nvSpPr>
        <p:spPr>
          <a:xfrm>
            <a:off x="190500" y="6572250"/>
            <a:ext cx="2857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Fuente: SNIS - RNVe / INE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4762500" y="6572250"/>
            <a:ext cx="7239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SICSAL · Municipio CAPINOTA · ENERO – ABRIL 2026 · 05/04/2026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76200" y="0"/>
            <a:ext cx="12115800" cy="8572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76200" y="828675"/>
            <a:ext cx="12115800" cy="28575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476250" y="76200"/>
            <a:ext cx="11239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.I.S. COBOCE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76250" y="476250"/>
            <a:ext cx="11239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Indicadores de Acceso Esquema Regular de Vacunacion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6200" y="857250"/>
            <a:ext cx="12115800" cy="3048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cxnSp>
        <p:nvCxnSpPr>
          <p:cNvPr id="9" name=""/>
          <p:cNvCxnSpPr/>
          <p:nvPr/>
        </p:nvCxnSpPr>
        <p:spPr>
          <a:xfrm>
            <a:off x="381000" y="11525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"/>
          <p:cNvSpPr txBox="1"/>
          <p:nvPr/>
        </p:nvSpPr>
        <p:spPr>
          <a:xfrm>
            <a:off x="476250" y="904875"/>
            <a:ext cx="112395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37474F">
                    <a:alpha val="100000"/>
                  </a:srgbClr>
                </a:solidFill>
                <a:latin typeface="Calibri"/>
              </a:rPr>
              <a:t><![CDATA[ENERO – ABRIL 2026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71500" y="1190625"/>
            <a:ext cx="8277225" cy="2476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"/>
          <p:cNvSpPr txBox="1"/>
          <p:nvPr/>
        </p:nvSpPr>
        <p:spPr>
          <a:xfrm>
            <a:off x="571500" y="1219200"/>
            <a:ext cx="8277225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enor a 1 año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8848725" y="1190625"/>
            <a:ext cx="1771650" cy="247650"/>
          </a:xfrm>
          <a:prstGeom prst="rect">
            <a:avLst/>
          </a:prstGeom>
          <a:solidFill>
            <a:srgbClr val="0277BD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"/>
          <p:cNvSpPr txBox="1"/>
          <p:nvPr/>
        </p:nvSpPr>
        <p:spPr>
          <a:xfrm>
            <a:off x="8848725" y="1219200"/>
            <a:ext cx="177165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 añ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10620375" y="1190625"/>
            <a:ext cx="1181100" cy="247650"/>
          </a:xfrm>
          <a:prstGeom prst="rect">
            <a:avLst/>
          </a:prstGeom>
          <a:solidFill>
            <a:srgbClr val="AD1457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"/>
          <p:cNvSpPr txBox="1"/>
          <p:nvPr/>
        </p:nvSpPr>
        <p:spPr>
          <a:xfrm>
            <a:off x="10620375" y="1219200"/>
            <a:ext cx="1181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0 años]]></a:t>
            </a:r>
          </a:p>
        </p:txBody>
      </p:sp>
      <p:graphicFrame>
        <p:nvGraphicFramePr>
          <p:cNvPr id="17" name="" descr=""/>
          <p:cNvGraphicFramePr/>
          <p:nvPr/>
        </p:nvGraphicFramePr>
        <p:xfrm>
          <a:off x="190500" y="1447800"/>
          <a:ext cx="11811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"/>
          <p:cNvSpPr txBox="1"/>
          <p:nvPr/>
        </p:nvSpPr>
        <p:spPr>
          <a:xfrm>
            <a:off x="9715500" y="5191125"/>
            <a:ext cx="2190750" cy="266700"/>
          </a:xfrm>
          <a:prstGeom prst="rect">
            <a:avLst/>
          </a:prstGeom>
          <a:solidFill>
            <a:srgbClr val="C62828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"/>
          <p:cNvSpPr txBox="1"/>
          <p:nvPr/>
        </p:nvSpPr>
        <p:spPr>
          <a:xfrm>
            <a:off x="9753600" y="5229225"/>
            <a:ext cx="211455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◄  Meta 33% acum.  ►]]></a:t>
            </a:r>
          </a:p>
        </p:txBody>
      </p:sp>
      <p:cxnSp>
        <p:nvCxnSpPr>
          <p:cNvPr id="20" name=""/>
          <p:cNvCxnSpPr/>
          <p:nvPr/>
        </p:nvCxnSpPr>
        <p:spPr>
          <a:xfrm>
            <a:off x="381000" y="65246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"/>
          <p:cNvSpPr txBox="1"/>
          <p:nvPr/>
        </p:nvSpPr>
        <p:spPr>
          <a:xfrm>
            <a:off x="190500" y="6572250"/>
            <a:ext cx="2857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Fuente: SNIS - RNVe / INE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4762500" y="6572250"/>
            <a:ext cx="7239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SICSAL · Municipio CAPINOTA · ENERO – ABRIL 2026 · 05/04/2026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76200" y="0"/>
            <a:ext cx="12115800" cy="8572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76200" y="828675"/>
            <a:ext cx="12115800" cy="28575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476250" y="76200"/>
            <a:ext cx="11239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.S.A. HORNOM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76250" y="476250"/>
            <a:ext cx="11239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Indicadores de Acceso Esquema Regular de Vacunacion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6200" y="857250"/>
            <a:ext cx="12115800" cy="3048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cxnSp>
        <p:nvCxnSpPr>
          <p:cNvPr id="9" name=""/>
          <p:cNvCxnSpPr/>
          <p:nvPr/>
        </p:nvCxnSpPr>
        <p:spPr>
          <a:xfrm>
            <a:off x="381000" y="11525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"/>
          <p:cNvSpPr txBox="1"/>
          <p:nvPr/>
        </p:nvSpPr>
        <p:spPr>
          <a:xfrm>
            <a:off x="476250" y="904875"/>
            <a:ext cx="112395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37474F">
                    <a:alpha val="100000"/>
                  </a:srgbClr>
                </a:solidFill>
                <a:latin typeface="Calibri"/>
              </a:rPr>
              <a:t><![CDATA[ENERO – ABRIL 2026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71500" y="1190625"/>
            <a:ext cx="8277225" cy="2476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"/>
          <p:cNvSpPr txBox="1"/>
          <p:nvPr/>
        </p:nvSpPr>
        <p:spPr>
          <a:xfrm>
            <a:off x="571500" y="1219200"/>
            <a:ext cx="8277225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enor a 1 año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8848725" y="1190625"/>
            <a:ext cx="1771650" cy="247650"/>
          </a:xfrm>
          <a:prstGeom prst="rect">
            <a:avLst/>
          </a:prstGeom>
          <a:solidFill>
            <a:srgbClr val="0277BD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"/>
          <p:cNvSpPr txBox="1"/>
          <p:nvPr/>
        </p:nvSpPr>
        <p:spPr>
          <a:xfrm>
            <a:off x="8848725" y="1219200"/>
            <a:ext cx="177165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 añ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10620375" y="1190625"/>
            <a:ext cx="1181100" cy="247650"/>
          </a:xfrm>
          <a:prstGeom prst="rect">
            <a:avLst/>
          </a:prstGeom>
          <a:solidFill>
            <a:srgbClr val="AD1457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"/>
          <p:cNvSpPr txBox="1"/>
          <p:nvPr/>
        </p:nvSpPr>
        <p:spPr>
          <a:xfrm>
            <a:off x="10620375" y="1219200"/>
            <a:ext cx="1181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0 años]]></a:t>
            </a:r>
          </a:p>
        </p:txBody>
      </p:sp>
      <p:graphicFrame>
        <p:nvGraphicFramePr>
          <p:cNvPr id="17" name="" descr=""/>
          <p:cNvGraphicFramePr/>
          <p:nvPr/>
        </p:nvGraphicFramePr>
        <p:xfrm>
          <a:off x="190500" y="1447800"/>
          <a:ext cx="11811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"/>
          <p:cNvSpPr txBox="1"/>
          <p:nvPr/>
        </p:nvSpPr>
        <p:spPr>
          <a:xfrm>
            <a:off x="9715500" y="5191125"/>
            <a:ext cx="2190750" cy="266700"/>
          </a:xfrm>
          <a:prstGeom prst="rect">
            <a:avLst/>
          </a:prstGeom>
          <a:solidFill>
            <a:srgbClr val="C62828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"/>
          <p:cNvSpPr txBox="1"/>
          <p:nvPr/>
        </p:nvSpPr>
        <p:spPr>
          <a:xfrm>
            <a:off x="9753600" y="5229225"/>
            <a:ext cx="211455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◄  Meta 33% acum.  ►]]></a:t>
            </a:r>
          </a:p>
        </p:txBody>
      </p:sp>
      <p:cxnSp>
        <p:nvCxnSpPr>
          <p:cNvPr id="20" name=""/>
          <p:cNvCxnSpPr/>
          <p:nvPr/>
        </p:nvCxnSpPr>
        <p:spPr>
          <a:xfrm>
            <a:off x="381000" y="65246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"/>
          <p:cNvSpPr txBox="1"/>
          <p:nvPr/>
        </p:nvSpPr>
        <p:spPr>
          <a:xfrm>
            <a:off x="190500" y="6572250"/>
            <a:ext cx="2857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Fuente: SNIS - RNVe / INE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4762500" y="6572250"/>
            <a:ext cx="7239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SICSAL · Municipio CAPINOTA · ENERO – ABRIL 2026 · 05/04/2026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76200" y="0"/>
            <a:ext cx="12115800" cy="8572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76200" y="828675"/>
            <a:ext cx="12115800" cy="28575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476250" y="76200"/>
            <a:ext cx="11239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.S. MOLLINI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76250" y="476250"/>
            <a:ext cx="11239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Indicadores de Acceso Esquema Regular de Vacunacion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6200" y="857250"/>
            <a:ext cx="12115800" cy="3048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cxnSp>
        <p:nvCxnSpPr>
          <p:cNvPr id="9" name=""/>
          <p:cNvCxnSpPr/>
          <p:nvPr/>
        </p:nvCxnSpPr>
        <p:spPr>
          <a:xfrm>
            <a:off x="381000" y="11525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"/>
          <p:cNvSpPr txBox="1"/>
          <p:nvPr/>
        </p:nvSpPr>
        <p:spPr>
          <a:xfrm>
            <a:off x="476250" y="904875"/>
            <a:ext cx="112395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37474F">
                    <a:alpha val="100000"/>
                  </a:srgbClr>
                </a:solidFill>
                <a:latin typeface="Calibri"/>
              </a:rPr>
              <a:t><![CDATA[ENERO – ABRIL 2026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71500" y="1190625"/>
            <a:ext cx="8277225" cy="2476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"/>
          <p:cNvSpPr txBox="1"/>
          <p:nvPr/>
        </p:nvSpPr>
        <p:spPr>
          <a:xfrm>
            <a:off x="571500" y="1219200"/>
            <a:ext cx="8277225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enor a 1 año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8848725" y="1190625"/>
            <a:ext cx="1771650" cy="247650"/>
          </a:xfrm>
          <a:prstGeom prst="rect">
            <a:avLst/>
          </a:prstGeom>
          <a:solidFill>
            <a:srgbClr val="0277BD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"/>
          <p:cNvSpPr txBox="1"/>
          <p:nvPr/>
        </p:nvSpPr>
        <p:spPr>
          <a:xfrm>
            <a:off x="8848725" y="1219200"/>
            <a:ext cx="177165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 añ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10620375" y="1190625"/>
            <a:ext cx="1181100" cy="247650"/>
          </a:xfrm>
          <a:prstGeom prst="rect">
            <a:avLst/>
          </a:prstGeom>
          <a:solidFill>
            <a:srgbClr val="AD1457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"/>
          <p:cNvSpPr txBox="1"/>
          <p:nvPr/>
        </p:nvSpPr>
        <p:spPr>
          <a:xfrm>
            <a:off x="10620375" y="1219200"/>
            <a:ext cx="1181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0 años]]></a:t>
            </a:r>
          </a:p>
        </p:txBody>
      </p:sp>
      <p:graphicFrame>
        <p:nvGraphicFramePr>
          <p:cNvPr id="17" name="" descr=""/>
          <p:cNvGraphicFramePr/>
          <p:nvPr/>
        </p:nvGraphicFramePr>
        <p:xfrm>
          <a:off x="190500" y="1447800"/>
          <a:ext cx="11811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"/>
          <p:cNvSpPr txBox="1"/>
          <p:nvPr/>
        </p:nvSpPr>
        <p:spPr>
          <a:xfrm>
            <a:off x="9715500" y="5191125"/>
            <a:ext cx="2190750" cy="266700"/>
          </a:xfrm>
          <a:prstGeom prst="rect">
            <a:avLst/>
          </a:prstGeom>
          <a:solidFill>
            <a:srgbClr val="C62828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"/>
          <p:cNvSpPr txBox="1"/>
          <p:nvPr/>
        </p:nvSpPr>
        <p:spPr>
          <a:xfrm>
            <a:off x="9753600" y="5229225"/>
            <a:ext cx="211455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◄  Meta 33% acum.  ►]]></a:t>
            </a:r>
          </a:p>
        </p:txBody>
      </p:sp>
      <p:cxnSp>
        <p:nvCxnSpPr>
          <p:cNvPr id="20" name=""/>
          <p:cNvCxnSpPr/>
          <p:nvPr/>
        </p:nvCxnSpPr>
        <p:spPr>
          <a:xfrm>
            <a:off x="381000" y="65246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"/>
          <p:cNvSpPr txBox="1"/>
          <p:nvPr/>
        </p:nvSpPr>
        <p:spPr>
          <a:xfrm>
            <a:off x="190500" y="6572250"/>
            <a:ext cx="2857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Fuente: SNIS - RNVe / INE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4762500" y="6572250"/>
            <a:ext cx="7239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SICSAL · Municipio CAPINOTA · ENERO – ABRIL 2026 · 05/04/2026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76200" y="0"/>
            <a:ext cx="12115800" cy="8572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76200" y="828675"/>
            <a:ext cx="12115800" cy="28575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476250" y="76200"/>
            <a:ext cx="11239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TASA DE DESERCIÓN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76250" y="476250"/>
            <a:ext cx="11239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Indicadores de Deserción — Esquema Regular de Vacunacion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6200" y="857250"/>
            <a:ext cx="12115800" cy="3048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cxnSp>
        <p:nvCxnSpPr>
          <p:cNvPr id="9" name=""/>
          <p:cNvCxnSpPr/>
          <p:nvPr/>
        </p:nvCxnSpPr>
        <p:spPr>
          <a:xfrm>
            <a:off x="381000" y="11525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"/>
          <p:cNvSpPr txBox="1"/>
          <p:nvPr/>
        </p:nvSpPr>
        <p:spPr>
          <a:xfrm>
            <a:off x="476250" y="904875"/>
            <a:ext cx="112395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37474F">
                    <a:alpha val="100000"/>
                  </a:srgbClr>
                </a:solidFill>
                <a:latin typeface="Calibri"/>
              </a:rPr>
              <a:t><![CDATA[ENERO – ABRIL 2026]]></a:t>
            </a:r>
          </a:p>
        </p:txBody>
      </p:sp>
      <p:graphicFrame>
        <p:nvGraphicFramePr>
          <p:cNvPr id="11" name="" descr=""/>
          <p:cNvGraphicFramePr/>
          <p:nvPr/>
        </p:nvGraphicFramePr>
        <p:xfrm>
          <a:off x="190500" y="1200150"/>
          <a:ext cx="5715000" cy="247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" descr=""/>
          <p:cNvGraphicFramePr/>
          <p:nvPr/>
        </p:nvGraphicFramePr>
        <p:xfrm>
          <a:off x="6286500" y="1200150"/>
          <a:ext cx="5715000" cy="247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" descr=""/>
          <p:cNvGraphicFramePr>
            <a:graphicFrameLocks noGrp="1"/>
          </p:cNvGraphicFramePr>
          <p:nvPr/>
        </p:nvGraphicFramePr>
        <p:xfrm>
          <a:off x="1428750" y="3810000"/>
          <a:ext cx="9334500" cy="800100"/>
        </p:xfrm>
        <a:graphic>
          <a:graphicData uri="http://schemas.openxmlformats.org/drawingml/2006/table">
            <a:tbl>
              <a:tblPr firstRow="1" bandRow="1"/>
              <a:tblGrid>
                <a:gridCol w="1866900"/>
                <a:gridCol w="1866900"/>
                <a:gridCol w="1866900"/>
                <a:gridCol w="1866900"/>
                <a:gridCol w="1866900"/>
              </a:tblGrid>
              <a:tr h="3048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Vacuna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ra Dosis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Última Dosis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Deserción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% Tasa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Pentavalente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226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20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26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1.5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SRP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227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213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6.2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14" name=""/>
          <p:cNvCxnSpPr/>
          <p:nvPr/>
        </p:nvCxnSpPr>
        <p:spPr>
          <a:xfrm>
            <a:off x="381000" y="65246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"/>
          <p:cNvSpPr txBox="1"/>
          <p:nvPr/>
        </p:nvSpPr>
        <p:spPr>
          <a:xfrm>
            <a:off x="190500" y="6572250"/>
            <a:ext cx="2857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Fuente: SNIS - RNVe / INE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762500" y="6572250"/>
            <a:ext cx="7239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SICSAL · Municipio CAPINOTA · ENERO – ABRIL 2026 · 05/04/2026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76200" y="0"/>
            <a:ext cx="12115800" cy="8572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76200" y="828675"/>
            <a:ext cx="12115800" cy="28575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476250" y="76200"/>
            <a:ext cx="11239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TASA DE DESERCIÓN CON VACUNA PENTAVALENTE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76250" y="476250"/>
            <a:ext cx="11239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or establecimiento de salu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6200" y="857250"/>
            <a:ext cx="12115800" cy="3048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cxnSp>
        <p:nvCxnSpPr>
          <p:cNvPr id="9" name=""/>
          <p:cNvCxnSpPr/>
          <p:nvPr/>
        </p:nvCxnSpPr>
        <p:spPr>
          <a:xfrm>
            <a:off x="381000" y="11525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"/>
          <p:cNvSpPr txBox="1"/>
          <p:nvPr/>
        </p:nvSpPr>
        <p:spPr>
          <a:xfrm>
            <a:off x="476250" y="904875"/>
            <a:ext cx="112395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37474F">
                    <a:alpha val="100000"/>
                  </a:srgbClr>
                </a:solidFill>
                <a:latin typeface="Calibri"/>
              </a:rPr>
              <a:t><![CDATA[ENERO – ABRIL 2026]]></a:t>
            </a:r>
          </a:p>
        </p:txBody>
      </p:sp>
      <p:graphicFrame>
        <p:nvGraphicFramePr>
          <p:cNvPr id="11" name="" descr=""/>
          <p:cNvGraphicFramePr/>
          <p:nvPr/>
        </p:nvGraphicFramePr>
        <p:xfrm>
          <a:off x="381000" y="1200150"/>
          <a:ext cx="11430000" cy="247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" descr=""/>
          <p:cNvGraphicFramePr>
            <a:graphicFrameLocks noGrp="1"/>
          </p:cNvGraphicFramePr>
          <p:nvPr/>
        </p:nvGraphicFramePr>
        <p:xfrm>
          <a:off x="952500" y="3810000"/>
          <a:ext cx="10668000" cy="1828800"/>
        </p:xfrm>
        <a:graphic>
          <a:graphicData uri="http://schemas.openxmlformats.org/drawingml/2006/table">
            <a:tbl>
              <a:tblPr firstRow="1" bandRow="1"/>
              <a:tblGrid>
                <a:gridCol w="2667000"/>
                <a:gridCol w="2667000"/>
                <a:gridCol w="2667000"/>
                <a:gridCol w="2667000"/>
              </a:tblGrid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Establecimiento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ra Penta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3ra Penta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Tasa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Hospital Capinot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46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32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9.6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Irpa Irp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6.7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Charamoco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6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6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Apillapamp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I.S. Coboce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50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A. HORNOM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Mollini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13" name=""/>
          <p:cNvCxnSpPr/>
          <p:nvPr/>
        </p:nvCxnSpPr>
        <p:spPr>
          <a:xfrm>
            <a:off x="381000" y="65246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"/>
          <p:cNvSpPr txBox="1"/>
          <p:nvPr/>
        </p:nvSpPr>
        <p:spPr>
          <a:xfrm>
            <a:off x="190500" y="6572250"/>
            <a:ext cx="2857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Fuente: SNIS - RNVe / INE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762500" y="6572250"/>
            <a:ext cx="7239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SICSAL · Municipio CAPINOTA · ENERO – ABRIL 2026 · 05/04/2026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0" y="1905000"/>
            <a:ext cx="76200" cy="304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12115800" y="1905000"/>
            <a:ext cx="76200" cy="304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1524000" y="2286000"/>
            <a:ext cx="9144000" cy="12382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"/>
          <p:cNvSpPr txBox="1"/>
          <p:nvPr/>
        </p:nvSpPr>
        <p:spPr>
          <a:xfrm>
            <a:off x="1524000" y="2286000"/>
            <a:ext cx="9144000" cy="5715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"/>
          <p:cNvSpPr txBox="1"/>
          <p:nvPr/>
        </p:nvSpPr>
        <p:spPr>
          <a:xfrm>
            <a:off x="1714500" y="2476500"/>
            <a:ext cx="8763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ICRONUTRIENTE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714500" y="3000375"/>
            <a:ext cx="8763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uplementación con hierro y vitamina A]]></a:t>
            </a:r>
          </a:p>
        </p:txBody>
      </p:sp>
      <p:cxnSp>
        <p:nvCxnSpPr>
          <p:cNvPr id="10" name=""/>
          <p:cNvCxnSpPr/>
          <p:nvPr/>
        </p:nvCxnSpPr>
        <p:spPr>
          <a:xfrm>
            <a:off x="571500" y="2905125"/>
            <a:ext cx="857250" cy="0"/>
          </a:xfrm>
          <a:prstGeom prst="line">
            <a:avLst/>
          </a:prstGeom>
          <a:ln w="28575" cap="flat" cmpd="sng" algn="ctr">
            <a:solidFill>
              <a:srgbClr val="00ACC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"/>
          <p:cNvCxnSpPr/>
          <p:nvPr/>
        </p:nvCxnSpPr>
        <p:spPr>
          <a:xfrm>
            <a:off x="10763250" y="2905125"/>
            <a:ext cx="857250" cy="0"/>
          </a:xfrm>
          <a:prstGeom prst="line">
            <a:avLst/>
          </a:prstGeom>
          <a:ln w="28575" cap="flat" cmpd="sng" algn="ctr">
            <a:solidFill>
              <a:srgbClr val="00ACC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76200" y="0"/>
            <a:ext cx="12115800" cy="619125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76200" y="590550"/>
            <a:ext cx="12115800" cy="28575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476250" y="114300"/>
            <a:ext cx="11239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BERTURA VITAMINA A — NIÑOS 2 A 5 AÑO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76200" y="619125"/>
            <a:ext cx="12115800" cy="3048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cxnSp>
        <p:nvCxnSpPr>
          <p:cNvPr id="8" name=""/>
          <p:cNvCxnSpPr/>
          <p:nvPr/>
        </p:nvCxnSpPr>
        <p:spPr>
          <a:xfrm>
            <a:off x="381000" y="914400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"/>
          <p:cNvSpPr txBox="1"/>
          <p:nvPr/>
        </p:nvSpPr>
        <p:spPr>
          <a:xfrm>
            <a:off x="476250" y="666750"/>
            <a:ext cx="112395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37474F">
                    <a:alpha val="100000"/>
                  </a:srgbClr>
                </a:solidFill>
                <a:latin typeface="Calibri"/>
              </a:rPr>
              <a:t><![CDATA[ENERO – ABRIL 2026]]></a:t>
            </a:r>
          </a:p>
        </p:txBody>
      </p:sp>
      <p:graphicFrame>
        <p:nvGraphicFramePr>
          <p:cNvPr id="10" name="" descr=""/>
          <p:cNvGraphicFramePr/>
          <p:nvPr/>
        </p:nvGraphicFramePr>
        <p:xfrm>
          <a:off x="381000" y="952500"/>
          <a:ext cx="11430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" descr=""/>
          <p:cNvGraphicFramePr>
            <a:graphicFrameLocks noGrp="1"/>
          </p:cNvGraphicFramePr>
          <p:nvPr/>
        </p:nvGraphicFramePr>
        <p:xfrm>
          <a:off x="952500" y="3952875"/>
          <a:ext cx="10668000" cy="1828800"/>
        </p:xfrm>
        <a:graphic>
          <a:graphicData uri="http://schemas.openxmlformats.org/drawingml/2006/table">
            <a:tbl>
              <a:tblPr firstRow="1" bandRow="1"/>
              <a:tblGrid>
                <a:gridCol w="3552825"/>
                <a:gridCol w="3552825"/>
                <a:gridCol w="3552825"/>
              </a:tblGrid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Establecimiento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ra Dosis Vit A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2da Dosis Vit A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Hospital Capinot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31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9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Irpa Irp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0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65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Charamoco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1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29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Apillapamp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I.S. Coboce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7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3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A. HORNOM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Mollini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12" name=""/>
          <p:cNvCxnSpPr/>
          <p:nvPr/>
        </p:nvCxnSpPr>
        <p:spPr>
          <a:xfrm>
            <a:off x="381000" y="65246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"/>
          <p:cNvSpPr txBox="1"/>
          <p:nvPr/>
        </p:nvSpPr>
        <p:spPr>
          <a:xfrm>
            <a:off x="190500" y="6572250"/>
            <a:ext cx="2857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Fuente: SNIS - RNVe / INE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762500" y="6572250"/>
            <a:ext cx="7239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SICSAL · Municipio CAPINOTA · ENERO – ABRIL 2026 · 05/04/2026]]>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76200" y="0"/>
            <a:ext cx="12115800" cy="619125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76200" y="590550"/>
            <a:ext cx="12115800" cy="28575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476250" y="114300"/>
            <a:ext cx="11239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HIERRO EN MENORES DE 1 AÑ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76200" y="619125"/>
            <a:ext cx="12115800" cy="3048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cxnSp>
        <p:nvCxnSpPr>
          <p:cNvPr id="8" name=""/>
          <p:cNvCxnSpPr/>
          <p:nvPr/>
        </p:nvCxnSpPr>
        <p:spPr>
          <a:xfrm>
            <a:off x="381000" y="914400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"/>
          <p:cNvSpPr txBox="1"/>
          <p:nvPr/>
        </p:nvSpPr>
        <p:spPr>
          <a:xfrm>
            <a:off x="476250" y="666750"/>
            <a:ext cx="112395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37474F">
                    <a:alpha val="100000"/>
                  </a:srgbClr>
                </a:solidFill>
                <a:latin typeface="Calibri"/>
              </a:rPr>
              <a:t><![CDATA[ENERO – ABRIL 2026]]></a:t>
            </a:r>
          </a:p>
        </p:txBody>
      </p:sp>
      <p:graphicFrame>
        <p:nvGraphicFramePr>
          <p:cNvPr id="10" name="" descr=""/>
          <p:cNvGraphicFramePr/>
          <p:nvPr/>
        </p:nvGraphicFramePr>
        <p:xfrm>
          <a:off x="381000" y="952500"/>
          <a:ext cx="114300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" descr=""/>
          <p:cNvGraphicFramePr>
            <a:graphicFrameLocks noGrp="1"/>
          </p:cNvGraphicFramePr>
          <p:nvPr/>
        </p:nvGraphicFramePr>
        <p:xfrm>
          <a:off x="952500" y="3762375"/>
          <a:ext cx="10668000" cy="1828800"/>
        </p:xfrm>
        <a:graphic>
          <a:graphicData uri="http://schemas.openxmlformats.org/drawingml/2006/table">
            <a:tbl>
              <a:tblPr firstRow="1" bandRow="1"/>
              <a:tblGrid>
                <a:gridCol w="2667000"/>
                <a:gridCol w="2667000"/>
                <a:gridCol w="2667000"/>
                <a:gridCol w="2667000"/>
              </a:tblGrid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Establecimiento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Meta < 1 año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Hierro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%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Hospital Capinot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8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52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655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Irpa Irp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2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72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614.3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Charamoco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7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69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985.7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Apillapamp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5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60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I.S. Coboce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5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25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500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A. HORNOM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2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300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Mollini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200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12" name=""/>
          <p:cNvCxnSpPr/>
          <p:nvPr/>
        </p:nvCxnSpPr>
        <p:spPr>
          <a:xfrm>
            <a:off x="381000" y="65246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"/>
          <p:cNvSpPr txBox="1"/>
          <p:nvPr/>
        </p:nvSpPr>
        <p:spPr>
          <a:xfrm>
            <a:off x="190500" y="6572250"/>
            <a:ext cx="2857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Fuente: SNIS - RNVe / INE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762500" y="6572250"/>
            <a:ext cx="7239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SICSAL · Municipio CAPINOTA · ENERO – ABRIL 2026 · 05/04/2026]]>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76200" y="0"/>
            <a:ext cx="12115800" cy="619125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76200" y="590550"/>
            <a:ext cx="12115800" cy="28575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476250" y="114300"/>
            <a:ext cx="11239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HIERRO EN NIÑOS DE 2 A 5 AÑO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76200" y="619125"/>
            <a:ext cx="12115800" cy="3048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cxnSp>
        <p:nvCxnSpPr>
          <p:cNvPr id="8" name=""/>
          <p:cNvCxnSpPr/>
          <p:nvPr/>
        </p:nvCxnSpPr>
        <p:spPr>
          <a:xfrm>
            <a:off x="381000" y="914400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"/>
          <p:cNvSpPr txBox="1"/>
          <p:nvPr/>
        </p:nvSpPr>
        <p:spPr>
          <a:xfrm>
            <a:off x="476250" y="666750"/>
            <a:ext cx="112395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37474F">
                    <a:alpha val="100000"/>
                  </a:srgbClr>
                </a:solidFill>
                <a:latin typeface="Calibri"/>
              </a:rPr>
              <a:t><![CDATA[ENERO – ABRIL 2026]]></a:t>
            </a:r>
          </a:p>
        </p:txBody>
      </p:sp>
      <p:graphicFrame>
        <p:nvGraphicFramePr>
          <p:cNvPr id="10" name="" descr=""/>
          <p:cNvGraphicFramePr/>
          <p:nvPr/>
        </p:nvGraphicFramePr>
        <p:xfrm>
          <a:off x="381000" y="952500"/>
          <a:ext cx="114300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" descr=""/>
          <p:cNvGraphicFramePr>
            <a:graphicFrameLocks noGrp="1"/>
          </p:cNvGraphicFramePr>
          <p:nvPr/>
        </p:nvGraphicFramePr>
        <p:xfrm>
          <a:off x="952500" y="3762375"/>
          <a:ext cx="10668000" cy="1828800"/>
        </p:xfrm>
        <a:graphic>
          <a:graphicData uri="http://schemas.openxmlformats.org/drawingml/2006/table">
            <a:tbl>
              <a:tblPr firstRow="1" bandRow="1"/>
              <a:tblGrid>
                <a:gridCol w="2667000"/>
                <a:gridCol w="2667000"/>
                <a:gridCol w="2667000"/>
                <a:gridCol w="2667000"/>
              </a:tblGrid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Establecimiento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Meta 2-4 años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Hierro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%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Hospital Capinot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26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2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61.5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Irpa Irp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91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35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48.4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Charamoco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22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5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245.5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Apillapamp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7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7.1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I.S. Coboce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7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22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29.4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A. HORNOM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3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61.5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Mollini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3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30.8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12" name=""/>
          <p:cNvCxnSpPr/>
          <p:nvPr/>
        </p:nvCxnSpPr>
        <p:spPr>
          <a:xfrm>
            <a:off x="381000" y="65246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"/>
          <p:cNvSpPr txBox="1"/>
          <p:nvPr/>
        </p:nvSpPr>
        <p:spPr>
          <a:xfrm>
            <a:off x="190500" y="6572250"/>
            <a:ext cx="2857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Fuente: SNIS - RNVe / INE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762500" y="6572250"/>
            <a:ext cx="7239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SICSAL · Municipio CAPINOTA · ENERO – ABRIL 2026 · 05/04/2026]]>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0" y="1905000"/>
            <a:ext cx="76200" cy="304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12115800" y="1905000"/>
            <a:ext cx="76200" cy="304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1524000" y="2286000"/>
            <a:ext cx="9144000" cy="12382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"/>
          <p:cNvSpPr txBox="1"/>
          <p:nvPr/>
        </p:nvSpPr>
        <p:spPr>
          <a:xfrm>
            <a:off x="1524000" y="2286000"/>
            <a:ext cx="9144000" cy="5715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"/>
          <p:cNvSpPr txBox="1"/>
          <p:nvPr/>
        </p:nvSpPr>
        <p:spPr>
          <a:xfrm>
            <a:off x="1714500" y="2476500"/>
            <a:ext cx="8763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UJER EN EDAD FÉRTIL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714500" y="3000375"/>
            <a:ext cx="8763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rol prenatal, partos, anticoncepción]]></a:t>
            </a:r>
          </a:p>
        </p:txBody>
      </p:sp>
      <p:cxnSp>
        <p:nvCxnSpPr>
          <p:cNvPr id="10" name=""/>
          <p:cNvCxnSpPr/>
          <p:nvPr/>
        </p:nvCxnSpPr>
        <p:spPr>
          <a:xfrm>
            <a:off x="571500" y="2905125"/>
            <a:ext cx="857250" cy="0"/>
          </a:xfrm>
          <a:prstGeom prst="line">
            <a:avLst/>
          </a:prstGeom>
          <a:ln w="28575" cap="flat" cmpd="sng" algn="ctr">
            <a:solidFill>
              <a:srgbClr val="00ACC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"/>
          <p:cNvCxnSpPr/>
          <p:nvPr/>
        </p:nvCxnSpPr>
        <p:spPr>
          <a:xfrm>
            <a:off x="10763250" y="2905125"/>
            <a:ext cx="857250" cy="0"/>
          </a:xfrm>
          <a:prstGeom prst="line">
            <a:avLst/>
          </a:prstGeom>
          <a:ln w="28575" cap="flat" cmpd="sng" algn="ctr">
            <a:solidFill>
              <a:srgbClr val="00ACC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76200" y="0"/>
            <a:ext cx="12115800" cy="619125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76200" y="590550"/>
            <a:ext cx="12115800" cy="28575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476250" y="114300"/>
            <a:ext cx="11239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BERTURA PARTO INSTITUCIONAL]]></a:t>
            </a:r>
          </a:p>
        </p:txBody>
      </p:sp>
      <p:sp>
        <p:nvSpPr>
          <p:cNvPr id="7" name=""/>
          <p:cNvSpPr txBox="1"/>
          <p:nvPr/>
        </p:nvSpPr>
        <p:spPr>
          <a:xfrm>
            <a:off x="76200" y="619125"/>
            <a:ext cx="12115800" cy="3048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cxnSp>
        <p:nvCxnSpPr>
          <p:cNvPr id="8" name=""/>
          <p:cNvCxnSpPr/>
          <p:nvPr/>
        </p:nvCxnSpPr>
        <p:spPr>
          <a:xfrm>
            <a:off x="381000" y="914400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"/>
          <p:cNvSpPr txBox="1"/>
          <p:nvPr/>
        </p:nvSpPr>
        <p:spPr>
          <a:xfrm>
            <a:off x="476250" y="666750"/>
            <a:ext cx="112395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37474F">
                    <a:alpha val="100000"/>
                  </a:srgbClr>
                </a:solidFill>
                <a:latin typeface="Calibri"/>
              </a:rPr>
              <a:t><![CDATA[ENERO – ABRIL 2026]]></a:t>
            </a:r>
          </a:p>
        </p:txBody>
      </p:sp>
      <p:graphicFrame>
        <p:nvGraphicFramePr>
          <p:cNvPr id="10" name="" descr=""/>
          <p:cNvGraphicFramePr/>
          <p:nvPr/>
        </p:nvGraphicFramePr>
        <p:xfrm>
          <a:off x="381000" y="952500"/>
          <a:ext cx="114300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" descr=""/>
          <p:cNvGraphicFramePr>
            <a:graphicFrameLocks noGrp="1"/>
          </p:cNvGraphicFramePr>
          <p:nvPr/>
        </p:nvGraphicFramePr>
        <p:xfrm>
          <a:off x="952500" y="3762375"/>
          <a:ext cx="10668000" cy="1828800"/>
        </p:xfrm>
        <a:graphic>
          <a:graphicData uri="http://schemas.openxmlformats.org/drawingml/2006/table">
            <a:tbl>
              <a:tblPr firstRow="1" bandRow="1"/>
              <a:tblGrid>
                <a:gridCol w="2667000"/>
                <a:gridCol w="2667000"/>
                <a:gridCol w="2667000"/>
                <a:gridCol w="2667000"/>
              </a:tblGrid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Establecimiento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Esperados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Institucionales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%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Hospital Capinot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8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4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85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Irpa Irp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2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Charamoco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7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Apillapamp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5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I.S. Coboce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5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A. HORNOM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Mollini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12" name=""/>
          <p:cNvCxnSpPr/>
          <p:nvPr/>
        </p:nvCxnSpPr>
        <p:spPr>
          <a:xfrm>
            <a:off x="381000" y="65246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"/>
          <p:cNvSpPr txBox="1"/>
          <p:nvPr/>
        </p:nvSpPr>
        <p:spPr>
          <a:xfrm>
            <a:off x="190500" y="6572250"/>
            <a:ext cx="2857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Fuente: SNIS - RNVe / INE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762500" y="6572250"/>
            <a:ext cx="7239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SICSAL · Municipio CAPINOTA · ENERO – ABRIL 2026 · 05/04/2026]]>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76200" y="0"/>
            <a:ext cx="12115800" cy="619125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76200" y="590550"/>
            <a:ext cx="12115800" cy="28575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476250" y="114300"/>
            <a:ext cx="11239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ÉTODOS MODERNOS — USUARIAS NUEVA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76200" y="619125"/>
            <a:ext cx="12115800" cy="3048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cxnSp>
        <p:nvCxnSpPr>
          <p:cNvPr id="8" name=""/>
          <p:cNvCxnSpPr/>
          <p:nvPr/>
        </p:nvCxnSpPr>
        <p:spPr>
          <a:xfrm>
            <a:off x="381000" y="914400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"/>
          <p:cNvSpPr txBox="1"/>
          <p:nvPr/>
        </p:nvSpPr>
        <p:spPr>
          <a:xfrm>
            <a:off x="476250" y="666750"/>
            <a:ext cx="112395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37474F">
                    <a:alpha val="100000"/>
                  </a:srgbClr>
                </a:solidFill>
                <a:latin typeface="Calibri"/>
              </a:rPr>
              <a:t><![CDATA[ENERO – ABRIL 2026]]></a:t>
            </a:r>
          </a:p>
        </p:txBody>
      </p:sp>
      <p:graphicFrame>
        <p:nvGraphicFramePr>
          <p:cNvPr id="10" name="" descr=""/>
          <p:cNvGraphicFramePr/>
          <p:nvPr/>
        </p:nvGraphicFramePr>
        <p:xfrm>
          <a:off x="381000" y="952500"/>
          <a:ext cx="114300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" descr=""/>
          <p:cNvGraphicFramePr>
            <a:graphicFrameLocks noGrp="1"/>
          </p:cNvGraphicFramePr>
          <p:nvPr/>
        </p:nvGraphicFramePr>
        <p:xfrm>
          <a:off x="952500" y="3762375"/>
          <a:ext cx="10668000" cy="1828800"/>
        </p:xfrm>
        <a:graphic>
          <a:graphicData uri="http://schemas.openxmlformats.org/drawingml/2006/table">
            <a:tbl>
              <a:tblPr firstRow="1" bandRow="1"/>
              <a:tblGrid>
                <a:gridCol w="2667000"/>
                <a:gridCol w="2667000"/>
                <a:gridCol w="2667000"/>
                <a:gridCol w="2667000"/>
              </a:tblGrid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Establecimiento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MEF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Métodos nuevas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%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Hospital Capinot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019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9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9.4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Irpa Irp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357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76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21.3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Charamoco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85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2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28.2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Apillapamp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6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I.S. Coboce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6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A. HORNOM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51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Mollini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51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12" name=""/>
          <p:cNvCxnSpPr/>
          <p:nvPr/>
        </p:nvCxnSpPr>
        <p:spPr>
          <a:xfrm>
            <a:off x="381000" y="65246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"/>
          <p:cNvSpPr txBox="1"/>
          <p:nvPr/>
        </p:nvSpPr>
        <p:spPr>
          <a:xfrm>
            <a:off x="190500" y="6572250"/>
            <a:ext cx="2857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Fuente: SNIS - RNVe / INE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762500" y="6572250"/>
            <a:ext cx="7239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SICSAL · Municipio CAPINOTA · ENERO – ABRIL 2026 · 05/04/2026]]>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76200" y="0"/>
            <a:ext cx="12115800" cy="619125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76200" y="590550"/>
            <a:ext cx="12115800" cy="28575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476250" y="114300"/>
            <a:ext cx="11239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MBARAZO EN ADOLESCENTE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76200" y="619125"/>
            <a:ext cx="12115800" cy="3048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cxnSp>
        <p:nvCxnSpPr>
          <p:cNvPr id="8" name=""/>
          <p:cNvCxnSpPr/>
          <p:nvPr/>
        </p:nvCxnSpPr>
        <p:spPr>
          <a:xfrm>
            <a:off x="381000" y="914400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"/>
          <p:cNvSpPr txBox="1"/>
          <p:nvPr/>
        </p:nvSpPr>
        <p:spPr>
          <a:xfrm>
            <a:off x="476250" y="666750"/>
            <a:ext cx="112395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37474F">
                    <a:alpha val="100000"/>
                  </a:srgbClr>
                </a:solidFill>
                <a:latin typeface="Calibri"/>
              </a:rPr>
              <a:t><![CDATA[ENERO – ABRIL 2026]]></a:t>
            </a:r>
          </a:p>
        </p:txBody>
      </p:sp>
      <p:graphicFrame>
        <p:nvGraphicFramePr>
          <p:cNvPr id="10" name="" descr=""/>
          <p:cNvGraphicFramePr/>
          <p:nvPr/>
        </p:nvGraphicFramePr>
        <p:xfrm>
          <a:off x="381000" y="952500"/>
          <a:ext cx="114300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" descr=""/>
          <p:cNvGraphicFramePr>
            <a:graphicFrameLocks noGrp="1"/>
          </p:cNvGraphicFramePr>
          <p:nvPr/>
        </p:nvGraphicFramePr>
        <p:xfrm>
          <a:off x="952500" y="3762375"/>
          <a:ext cx="10668000" cy="1828800"/>
        </p:xfrm>
        <a:graphic>
          <a:graphicData uri="http://schemas.openxmlformats.org/drawingml/2006/table">
            <a:tbl>
              <a:tblPr firstRow="1" bandRow="1"/>
              <a:tblGrid>
                <a:gridCol w="2667000"/>
                <a:gridCol w="2667000"/>
                <a:gridCol w="2667000"/>
                <a:gridCol w="2667000"/>
              </a:tblGrid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Establecimiento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CPN Nuevas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Emb. Adolescentes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%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Hospital Capinot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67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59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35.3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Irpa Irp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52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34.6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Charamoco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2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33.3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Apillapamp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I.S. Coboce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2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33.3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A. HORNOM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Mollini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12" name=""/>
          <p:cNvCxnSpPr/>
          <p:nvPr/>
        </p:nvCxnSpPr>
        <p:spPr>
          <a:xfrm>
            <a:off x="381000" y="65246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"/>
          <p:cNvSpPr txBox="1"/>
          <p:nvPr/>
        </p:nvSpPr>
        <p:spPr>
          <a:xfrm>
            <a:off x="190500" y="6572250"/>
            <a:ext cx="2857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Fuente: SNIS - RNVe / INE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762500" y="6572250"/>
            <a:ext cx="7239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SICSAL · Municipio CAPINOTA · ENERO – ABRIL 2026 · 05/04/2026]]>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0" y="1905000"/>
            <a:ext cx="76200" cy="304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12115800" y="1905000"/>
            <a:ext cx="76200" cy="304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1524000" y="2286000"/>
            <a:ext cx="9144000" cy="12382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"/>
          <p:cNvSpPr txBox="1"/>
          <p:nvPr/>
        </p:nvSpPr>
        <p:spPr>
          <a:xfrm>
            <a:off x="1524000" y="2286000"/>
            <a:ext cx="9144000" cy="5715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"/>
          <p:cNvSpPr txBox="1"/>
          <p:nvPr/>
        </p:nvSpPr>
        <p:spPr>
          <a:xfrm>
            <a:off x="1714500" y="2476500"/>
            <a:ext cx="8763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GRAMA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714500" y="3000375"/>
            <a:ext cx="8763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Tuberculosis y sintomático respiratorio]]></a:t>
            </a:r>
          </a:p>
        </p:txBody>
      </p:sp>
      <p:cxnSp>
        <p:nvCxnSpPr>
          <p:cNvPr id="10" name=""/>
          <p:cNvCxnSpPr/>
          <p:nvPr/>
        </p:nvCxnSpPr>
        <p:spPr>
          <a:xfrm>
            <a:off x="571500" y="2905125"/>
            <a:ext cx="857250" cy="0"/>
          </a:xfrm>
          <a:prstGeom prst="line">
            <a:avLst/>
          </a:prstGeom>
          <a:ln w="28575" cap="flat" cmpd="sng" algn="ctr">
            <a:solidFill>
              <a:srgbClr val="00ACC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"/>
          <p:cNvCxnSpPr/>
          <p:nvPr/>
        </p:nvCxnSpPr>
        <p:spPr>
          <a:xfrm>
            <a:off x="10763250" y="2905125"/>
            <a:ext cx="857250" cy="0"/>
          </a:xfrm>
          <a:prstGeom prst="line">
            <a:avLst/>
          </a:prstGeom>
          <a:ln w="28575" cap="flat" cmpd="sng" algn="ctr">
            <a:solidFill>
              <a:srgbClr val="00ACC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76200" y="0"/>
            <a:ext cx="12115800" cy="619125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76200" y="590550"/>
            <a:ext cx="12115800" cy="28575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476250" y="114300"/>
            <a:ext cx="11239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INTOMÁTICO RESPIRATORI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76200" y="619125"/>
            <a:ext cx="12115800" cy="3048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cxnSp>
        <p:nvCxnSpPr>
          <p:cNvPr id="8" name=""/>
          <p:cNvCxnSpPr/>
          <p:nvPr/>
        </p:nvCxnSpPr>
        <p:spPr>
          <a:xfrm>
            <a:off x="381000" y="914400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"/>
          <p:cNvSpPr txBox="1"/>
          <p:nvPr/>
        </p:nvSpPr>
        <p:spPr>
          <a:xfrm>
            <a:off x="476250" y="666750"/>
            <a:ext cx="112395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37474F">
                    <a:alpha val="100000"/>
                  </a:srgbClr>
                </a:solidFill>
                <a:latin typeface="Calibri"/>
              </a:rPr>
              <a:t><![CDATA[ENERO – ABRIL 2026]]></a:t>
            </a:r>
          </a:p>
        </p:txBody>
      </p:sp>
      <p:graphicFrame>
        <p:nvGraphicFramePr>
          <p:cNvPr id="10" name="" descr=""/>
          <p:cNvGraphicFramePr/>
          <p:nvPr/>
        </p:nvGraphicFramePr>
        <p:xfrm>
          <a:off x="381000" y="952500"/>
          <a:ext cx="11430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" descr=""/>
          <p:cNvGraphicFramePr>
            <a:graphicFrameLocks noGrp="1"/>
          </p:cNvGraphicFramePr>
          <p:nvPr/>
        </p:nvGraphicFramePr>
        <p:xfrm>
          <a:off x="1809750" y="3952875"/>
          <a:ext cx="8953500" cy="1981200"/>
        </p:xfrm>
        <a:graphic>
          <a:graphicData uri="http://schemas.openxmlformats.org/drawingml/2006/table">
            <a:tbl>
              <a:tblPr firstRow="1" bandRow="1"/>
              <a:tblGrid>
                <a:gridCol w="4476750"/>
                <a:gridCol w="4476750"/>
              </a:tblGrid>
              <a:tr h="2857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Establecimiento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Total Consultas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</a:tr>
              <a:tr h="2476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Hospital Capinot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5,48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476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Irpa Irp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,785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476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Charamoco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72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476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Apillapamp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8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476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I.S. Coboce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24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476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A. HORNOM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6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476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Mollini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8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12" name=""/>
          <p:cNvCxnSpPr/>
          <p:nvPr/>
        </p:nvCxnSpPr>
        <p:spPr>
          <a:xfrm>
            <a:off x="381000" y="65246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"/>
          <p:cNvSpPr txBox="1"/>
          <p:nvPr/>
        </p:nvSpPr>
        <p:spPr>
          <a:xfrm>
            <a:off x="190500" y="6572250"/>
            <a:ext cx="2857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Fuente: SNIS - RNVe / INE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762500" y="6572250"/>
            <a:ext cx="7239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SICSAL · Municipio CAPINOTA · ENERO – ABRIL 2026 · 05/04/2026]]>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0" y="1905000"/>
            <a:ext cx="76200" cy="304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12115800" y="1905000"/>
            <a:ext cx="76200" cy="304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1524000" y="2286000"/>
            <a:ext cx="9144000" cy="12382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"/>
          <p:cNvSpPr txBox="1"/>
          <p:nvPr/>
        </p:nvSpPr>
        <p:spPr>
          <a:xfrm>
            <a:off x="1524000" y="2286000"/>
            <a:ext cx="9144000" cy="5715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"/>
          <p:cNvSpPr txBox="1"/>
          <p:nvPr/>
        </p:nvSpPr>
        <p:spPr>
          <a:xfrm>
            <a:off x="1714500" y="2476500"/>
            <a:ext cx="8763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INTEGRALIDA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714500" y="3000375"/>
            <a:ext cx="8763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Análisis de variables cruzadas]]></a:t>
            </a:r>
          </a:p>
        </p:txBody>
      </p:sp>
      <p:cxnSp>
        <p:nvCxnSpPr>
          <p:cNvPr id="10" name=""/>
          <p:cNvCxnSpPr/>
          <p:nvPr/>
        </p:nvCxnSpPr>
        <p:spPr>
          <a:xfrm>
            <a:off x="571500" y="2905125"/>
            <a:ext cx="857250" cy="0"/>
          </a:xfrm>
          <a:prstGeom prst="line">
            <a:avLst/>
          </a:prstGeom>
          <a:ln w="28575" cap="flat" cmpd="sng" algn="ctr">
            <a:solidFill>
              <a:srgbClr val="00ACC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"/>
          <p:cNvCxnSpPr/>
          <p:nvPr/>
        </p:nvCxnSpPr>
        <p:spPr>
          <a:xfrm>
            <a:off x="10763250" y="2905125"/>
            <a:ext cx="857250" cy="0"/>
          </a:xfrm>
          <a:prstGeom prst="line">
            <a:avLst/>
          </a:prstGeom>
          <a:ln w="28575" cap="flat" cmpd="sng" algn="ctr">
            <a:solidFill>
              <a:srgbClr val="00ACC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76200" y="0"/>
            <a:ext cx="12115800" cy="8572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76200" y="828675"/>
            <a:ext cx="12115800" cy="28575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476250" y="76200"/>
            <a:ext cx="11239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INTEGRALIDAD DE VACUNAS — NIÑOS < 5 AÑO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76250" y="476250"/>
            <a:ext cx="11239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emáforo de cobertura por establecimiento]]></a:t>
            </a:r>
          </a:p>
        </p:txBody>
      </p:sp>
      <p:graphicFrame>
        <p:nvGraphicFramePr>
          <p:cNvPr id="8" name="" descr=""/>
          <p:cNvGraphicFramePr>
            <a:graphicFrameLocks noGrp="1"/>
          </p:cNvGraphicFramePr>
          <p:nvPr/>
        </p:nvGraphicFramePr>
        <p:xfrm>
          <a:off x="95250" y="904875"/>
          <a:ext cx="12001500" cy="2133600"/>
        </p:xfrm>
        <a:graphic>
          <a:graphicData uri="http://schemas.openxmlformats.org/drawingml/2006/table">
            <a:tbl>
              <a:tblPr firstRow="1" bandRow="1"/>
              <a:tblGrid>
                <a:gridCol w="1714500"/>
                <a:gridCol w="733425"/>
                <a:gridCol w="733425"/>
                <a:gridCol w="733425"/>
                <a:gridCol w="733425"/>
                <a:gridCol w="733425"/>
                <a:gridCol w="733425"/>
                <a:gridCol w="733425"/>
                <a:gridCol w="733425"/>
                <a:gridCol w="733425"/>
                <a:gridCol w="733425"/>
                <a:gridCol w="733425"/>
                <a:gridCol w="733425"/>
                <a:gridCol w="733425"/>
                <a:gridCol w="733425"/>
              </a:tblGrid>
              <a:tr h="2857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Establecimiento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1565C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BCG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1565C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P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1565C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2P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1565C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3P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1565C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IPV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1565C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2OPV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1565C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3OPV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1565C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Rot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1565C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2Rot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1565C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Neu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1565C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2Neu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1565C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3Neu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1565C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SRP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1565C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FA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1565C0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Hospital Capinota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45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82.5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7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65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81.3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71.3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66.3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8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7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82.5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72.5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66.3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83.8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63.8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Irpa Irpa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28.6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71.4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57.1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42.9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71.4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57.1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42.9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71.4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57.1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71.4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57.1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42.9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71.4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42.9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Charamoco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71.4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228.6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228.6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228.6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228.6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228.6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228.6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228.6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228.6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228.6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228.6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228.6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228.6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228.6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Apillapampa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4433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8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107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8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107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8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107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8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107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8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107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8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107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8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107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8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107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8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107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8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107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8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107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8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107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8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107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I.S. Coboce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8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107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6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6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8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107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6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6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8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107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6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6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6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6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8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107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6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8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C107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A. HORNOMA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0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0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0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0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0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0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0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0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0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0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0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0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0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10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CAF50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Mollini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4433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4433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4433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4433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4433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4433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4433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4433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4433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4433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4433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4433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44336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9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0%]]></a:t>
                      </a:r>
                    </a:p>
                  </a:txBody>
                  <a:tcPr anchor="ctr" marL="0" marR="0" marT="0" marB="0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44336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"/>
          <p:cNvSpPr txBox="1"/>
          <p:nvPr/>
        </p:nvSpPr>
        <p:spPr>
          <a:xfrm>
            <a:off x="571500" y="6286500"/>
            <a:ext cx="209550" cy="171450"/>
          </a:xfrm>
          <a:prstGeom prst="rect">
            <a:avLst/>
          </a:prstGeom>
          <a:solidFill>
            <a:srgbClr val="4CAF5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"/>
          <p:cNvSpPr txBox="1"/>
          <p:nvPr/>
        </p:nvSpPr>
        <p:spPr>
          <a:xfrm>
            <a:off x="819150" y="6286500"/>
            <a:ext cx="571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212121">
                    <a:alpha val="100000"/>
                  </a:srgbClr>
                </a:solidFill>
                <a:latin typeface="Calibri"/>
              </a:rPr>
              <a:t><![CDATA[≥ 95%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476375" y="6286500"/>
            <a:ext cx="209550" cy="171450"/>
          </a:xfrm>
          <a:prstGeom prst="rect">
            <a:avLst/>
          </a:prstGeom>
          <a:solidFill>
            <a:srgbClr val="FFC107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"/>
          <p:cNvSpPr txBox="1"/>
          <p:nvPr/>
        </p:nvSpPr>
        <p:spPr>
          <a:xfrm>
            <a:off x="1724025" y="6286500"/>
            <a:ext cx="666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212121">
                    <a:alpha val="100000"/>
                  </a:srgbClr>
                </a:solidFill>
                <a:latin typeface="Calibri"/>
              </a:rPr>
              <a:t><![CDATA[80-94%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476500" y="6286500"/>
            <a:ext cx="209550" cy="171450"/>
          </a:xfrm>
          <a:prstGeom prst="rect">
            <a:avLst/>
          </a:prstGeom>
          <a:solidFill>
            <a:srgbClr val="FF980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"/>
          <p:cNvSpPr txBox="1"/>
          <p:nvPr/>
        </p:nvSpPr>
        <p:spPr>
          <a:xfrm>
            <a:off x="2724150" y="6286500"/>
            <a:ext cx="666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212121">
                    <a:alpha val="100000"/>
                  </a:srgbClr>
                </a:solidFill>
                <a:latin typeface="Calibri"/>
              </a:rPr>
              <a:t><![CDATA[50-79%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3476625" y="6286500"/>
            <a:ext cx="209550" cy="171450"/>
          </a:xfrm>
          <a:prstGeom prst="rect">
            <a:avLst/>
          </a:prstGeom>
          <a:solidFill>
            <a:srgbClr val="F44336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"/>
          <p:cNvSpPr txBox="1"/>
          <p:nvPr/>
        </p:nvSpPr>
        <p:spPr>
          <a:xfrm>
            <a:off x="3724275" y="6286500"/>
            <a:ext cx="571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212121">
                    <a:alpha val="100000"/>
                  </a:srgbClr>
                </a:solidFill>
                <a:latin typeface="Calibri"/>
              </a:rPr>
              <a:t><![CDATA[< 50%]]></a:t>
            </a:r>
          </a:p>
        </p:txBody>
      </p:sp>
      <p:cxnSp>
        <p:nvCxnSpPr>
          <p:cNvPr id="17" name=""/>
          <p:cNvCxnSpPr/>
          <p:nvPr/>
        </p:nvCxnSpPr>
        <p:spPr>
          <a:xfrm>
            <a:off x="381000" y="65246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"/>
          <p:cNvSpPr txBox="1"/>
          <p:nvPr/>
        </p:nvSpPr>
        <p:spPr>
          <a:xfrm>
            <a:off x="190500" y="6572250"/>
            <a:ext cx="2857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Fuente: SNIS - RNVe / INE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762500" y="6572250"/>
            <a:ext cx="7239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SICSAL · Municipio CAPINOTA · ENERO – ABRIL 2026 · 05/04/2026]]>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76200" y="0"/>
            <a:ext cx="12115800" cy="8572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"/>
          <p:cNvSpPr txBox="1"/>
          <p:nvPr/>
        </p:nvSpPr>
        <p:spPr>
          <a:xfrm>
            <a:off x="76200" y="828675"/>
            <a:ext cx="12115800" cy="28575"/>
          </a:xfrm>
          <a:prstGeom prst="rect">
            <a:avLst/>
          </a:prstGeom>
          <a:solidFill>
            <a:srgbClr val="004D4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"/>
          <p:cNvSpPr txBox="1"/>
          <p:nvPr/>
        </p:nvSpPr>
        <p:spPr>
          <a:xfrm>
            <a:off x="476250" y="76200"/>
            <a:ext cx="11239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ATENCIÓN INTEGRAL A LA MUJE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76250" y="476250"/>
            <a:ext cx="11239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Indicadores de salud materna por establecimiento]]></a:t>
            </a:r>
          </a:p>
        </p:txBody>
      </p:sp>
      <p:graphicFrame>
        <p:nvGraphicFramePr>
          <p:cNvPr id="8" name="" descr=""/>
          <p:cNvGraphicFramePr>
            <a:graphicFrameLocks noGrp="1"/>
          </p:cNvGraphicFramePr>
          <p:nvPr/>
        </p:nvGraphicFramePr>
        <p:xfrm>
          <a:off x="95250" y="904875"/>
          <a:ext cx="12001500" cy="2133600"/>
        </p:xfrm>
        <a:graphic>
          <a:graphicData uri="http://schemas.openxmlformats.org/drawingml/2006/table">
            <a:tbl>
              <a:tblPr firstRow="1" bandRow="1"/>
              <a:tblGrid>
                <a:gridCol w="1495425"/>
                <a:gridCol w="1495425"/>
                <a:gridCol w="1495425"/>
                <a:gridCol w="1495425"/>
                <a:gridCol w="1495425"/>
                <a:gridCol w="1495425"/>
                <a:gridCol w="1495425"/>
                <a:gridCol w="1495425"/>
              </a:tblGrid>
              <a:tr h="30480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Establecimiento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CPN 1er Trim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4to CPN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Partos Inst.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Partos Dom.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Total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Vit A Puérp.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Hierro Puérp.]]></a:t>
                      </a:r>
                    </a:p>
                  </a:txBody>
                  <a:tcPr anchor="ctr" marL="0" marR="0" marT="0" marB="0">
                    <a:lnL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897B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Hospital Capinot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67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4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4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269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331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Irpa Irp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52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2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87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9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Charamoco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2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2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35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2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Apillapamp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I.S. Coboce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2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1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17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A. HORNOMA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8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CEFF1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C.S. Mollini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0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rtl="0" fontAlgn="ctr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100" spc="0" u="none" cap="none">
                          <a:solidFill>
                            <a:srgbClr val="212121">
                              <a:alpha val="100000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9" name=""/>
          <p:cNvCxnSpPr/>
          <p:nvPr/>
        </p:nvCxnSpPr>
        <p:spPr>
          <a:xfrm>
            <a:off x="381000" y="6524625"/>
            <a:ext cx="11430000" cy="0"/>
          </a:xfrm>
          <a:prstGeom prst="line">
            <a:avLst/>
          </a:prstGeom>
          <a:ln w="9525" cap="flat" cmpd="sng" algn="ctr">
            <a:solidFill>
              <a:srgbClr val="B0BEC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"/>
          <p:cNvSpPr txBox="1"/>
          <p:nvPr/>
        </p:nvSpPr>
        <p:spPr>
          <a:xfrm>
            <a:off x="190500" y="6572250"/>
            <a:ext cx="28575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Fuente: SNIS - RNVe / INE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762500" y="6572250"/>
            <a:ext cx="7239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B0BEC5">
                    <a:alpha val="100000"/>
                  </a:srgbClr>
                </a:solidFill>
                <a:latin typeface="Calibri"/>
              </a:rPr>
              <a:t><![CDATA[SICSAL · Municipio CAPINOTA · ENERO – ABRIL 2026 · 05/04/2026]]>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D4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/>
          <p:cNvSpPr txBox="1"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1333500"/>
            <a:ext cx="121920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6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GRACIAS]]></a:t>
            </a:r>
          </a:p>
        </p:txBody>
      </p:sp>
      <p:cxnSp>
        <p:nvCxnSpPr>
          <p:cNvPr id="4" name=""/>
          <p:cNvCxnSpPr/>
          <p:nvPr/>
        </p:nvCxnSpPr>
        <p:spPr>
          <a:xfrm>
            <a:off x="3810000" y="2286000"/>
            <a:ext cx="4572000" cy="0"/>
          </a:xfrm>
          <a:prstGeom prst="line">
            <a:avLst/>
          </a:prstGeom>
          <a:ln w="28575" cap="flat" cmpd="sng" algn="ctr">
            <a:solidFill>
              <a:srgbClr val="00ACC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"/>
          <p:cNvSpPr txBox="1"/>
          <p:nvPr/>
        </p:nvSpPr>
        <p:spPr>
          <a:xfrm>
            <a:off x="0" y="2571750"/>
            <a:ext cx="12192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unicipio de CAPINOTA]]></a:t>
            </a:r>
          </a:p>
        </p:txBody>
      </p:sp>
      <p:sp>
        <p:nvSpPr>
          <p:cNvPr id="6" name=""/>
          <p:cNvSpPr txBox="1"/>
          <p:nvPr/>
        </p:nvSpPr>
        <p:spPr>
          <a:xfrm>
            <a:off x="0" y="3143250"/>
            <a:ext cx="12192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B2DFDB">
                    <a:alpha val="100000"/>
                  </a:srgbClr>
                </a:solidFill>
                <a:latin typeface="Calibri"/>
              </a:rPr>
              <a:t><![CDATA[ENERO – ABRIL 2026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381250" y="4095750"/>
            <a:ext cx="7429500" cy="666750"/>
          </a:xfrm>
          <a:prstGeom prst="rect">
            <a:avLst/>
          </a:prstGeom>
          <a:solidFill>
            <a:srgbClr val="00897B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"/>
          <p:cNvSpPr txBox="1"/>
          <p:nvPr/>
        </p:nvSpPr>
        <p:spPr>
          <a:xfrm>
            <a:off x="2381250" y="4095750"/>
            <a:ext cx="7429500" cy="3810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"/>
          <p:cNvSpPr txBox="1"/>
          <p:nvPr/>
        </p:nvSpPr>
        <p:spPr>
          <a:xfrm>
            <a:off x="2476500" y="4191000"/>
            <a:ext cx="7239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ICSAL — Sistema de Información Censal en Salud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476500" y="4457700"/>
            <a:ext cx="72390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B2DFDB">
                    <a:alpha val="100000"/>
                  </a:srgbClr>
                </a:solidFill>
                <a:latin typeface="Calibri"/>
              </a:rPr>
              <a:t><![CDATA[Red de Salud VII Capinota · Ministerio de Salud y Deportes · Bolivia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00ACC1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73">
  <a:themeElements>
    <a:clrScheme name="Theme7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27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2026-04-05T00:38:23Z</dcterms:created>
  <dcterms:modified xsi:type="dcterms:W3CDTF">2026-04-05T00:38:23Z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